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3"/>
  </p:sldMasterIdLst>
  <p:notesMasterIdLst>
    <p:notesMasterId r:id="rId7"/>
  </p:notesMasterIdLst>
  <p:handoutMasterIdLst>
    <p:handoutMasterId r:id="rId8"/>
  </p:handoutMasterIdLst>
  <p:sldIdLst>
    <p:sldId id="1228" r:id="rId4"/>
    <p:sldId id="1230" r:id="rId13"/>
    <p:sldId id="1231" r:id="rId14"/>
    <p:sldId id="489" r:id="rId5"/>
    <p:sldId id="1229" r:id="rId6"/>
    <p:sldId id="1232" r:id="rId15"/>
    <p:sldId id="1233" r:id="rId16"/>
    <p:sldId id="1234" r:id="rId17"/>
  </p:sldIdLst>
  <p:sldSz cx="9904413" cy="6858000"/>
  <p:notesSz cx="6858000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FF66"/>
    <a:srgbClr val="FFFF00"/>
    <a:srgbClr val="CCFFCC"/>
    <a:srgbClr val="FF9900"/>
    <a:srgbClr val="EED19C"/>
    <a:srgbClr val="0000FF"/>
    <a:srgbClr val="EBEBEB"/>
    <a:srgbClr val="26517E"/>
    <a:srgbClr val="B5B9BA"/>
    <a:srgbClr val="FFA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695" autoAdjust="0"/>
    <p:restoredTop sz="88242" autoAdjust="0"/>
  </p:normalViewPr>
  <p:slideViewPr>
    <p:cSldViewPr snapToGrid="0">
      <p:cViewPr>
        <p:scale>
          <a:sx n="75" d="100"/>
          <a:sy n="75" d="100"/>
        </p:scale>
        <p:origin x="1944" y="33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notesMaster" Target="notesMasters/notesMaster1.xml"/><Relationship Id="rId8" Type="http://schemas.openxmlformats.org/officeDocument/2006/relationships/handoutMaster" Target="handoutMasters/handout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2547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3852" y="0"/>
            <a:ext cx="2972547" cy="49688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23466F3A-31F9-4BCB-B35A-69458A958BA8}" type="datetimeFigureOut">
              <a:rPr lang="ko-KR" altLang="en-US" smtClean="0"/>
              <a:pPr/>
              <a:t>2026-08-19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165"/>
            <a:ext cx="2972547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3852" y="9428165"/>
            <a:ext cx="2972547" cy="496887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011DC731-5BA1-411F-A7DE-C01136821FB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4386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72547" cy="49792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3852" y="0"/>
            <a:ext cx="2972547" cy="497928"/>
          </a:xfrm>
          <a:prstGeom prst="rect">
            <a:avLst/>
          </a:prstGeom>
        </p:spPr>
        <p:txBody>
          <a:bodyPr vert="horz" lIns="91431" tIns="45715" rIns="91431" bIns="45715" rtlCol="0"/>
          <a:lstStyle>
            <a:lvl1pPr algn="r">
              <a:defRPr sz="1200"/>
            </a:lvl1pPr>
          </a:lstStyle>
          <a:p>
            <a:fld id="{67D371B6-A501-4DBC-8A78-0EE5B0C3D734}" type="datetimeFigureOut">
              <a:rPr lang="ko-KR" altLang="en-US" smtClean="0"/>
              <a:pPr/>
              <a:t>2026-08-19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09650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1" tIns="45715" rIns="91431" bIns="45715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481" y="4776597"/>
            <a:ext cx="5487041" cy="3910010"/>
          </a:xfrm>
          <a:prstGeom prst="rect">
            <a:avLst/>
          </a:prstGeom>
        </p:spPr>
        <p:txBody>
          <a:bodyPr vert="horz" lIns="91431" tIns="45715" rIns="91431" bIns="45715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711"/>
            <a:ext cx="2972547" cy="497928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3852" y="9428711"/>
            <a:ext cx="2972547" cy="497928"/>
          </a:xfrm>
          <a:prstGeom prst="rect">
            <a:avLst/>
          </a:prstGeom>
        </p:spPr>
        <p:txBody>
          <a:bodyPr vert="horz" lIns="91431" tIns="45715" rIns="91431" bIns="45715" rtlCol="0" anchor="b"/>
          <a:lstStyle>
            <a:lvl1pPr algn="r">
              <a:defRPr sz="1200"/>
            </a:lvl1pPr>
          </a:lstStyle>
          <a:p>
            <a:fld id="{9D004B34-685A-4782-A909-7593906AB0B2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015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1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65548-BF37-4977-BC89-219863EFC6CA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14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E684-5FAD-5453-A4CB-CEA3E23D1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6A4489-D863-2555-77DD-48BDC1F0B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12FB11-0A49-6579-192E-1960F8222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42C28C-34F0-0851-E504-B6AB086842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65548-BF37-4977-BC89-219863EFC6C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560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1E684-5FAD-5453-A4CB-CEA3E23D1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6A4489-D863-2555-77DD-48BDC1F0BF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E12FB11-0A49-6579-192E-1960F8222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42C28C-34F0-0851-E504-B6AB086842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365548-BF37-4977-BC89-219863EFC6C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3309233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6.png"/><Relationship Id="rId4" Type="http://schemas.openxmlformats.org/officeDocument/2006/relationships/image" Target="../media/image7.jpe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Master" Target="../slideMasters/slideMaster1.xml"/><Relationship Id="rId3" Type="http://schemas.openxmlformats.org/officeDocument/2006/relationships/image" Target="../media/image8.jpeg"/><Relationship Id="rId4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9"/>
            <a:ext cx="9904413" cy="68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254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-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9"/>
            <a:ext cx="9904413" cy="685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485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장-프로젝트 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07" r="29443"/>
          <a:stretch/>
        </p:blipFill>
        <p:spPr>
          <a:xfrm>
            <a:off x="8405526" y="0"/>
            <a:ext cx="1498887" cy="1136380"/>
          </a:xfrm>
          <a:prstGeom prst="rect">
            <a:avLst/>
          </a:prstGeom>
        </p:spPr>
      </p:pic>
      <p:sp>
        <p:nvSpPr>
          <p:cNvPr id="16" name="Rectangle 75"/>
          <p:cNvSpPr>
            <a:spLocks noChangeArrowheads="1"/>
          </p:cNvSpPr>
          <p:nvPr userDrawn="1"/>
        </p:nvSpPr>
        <p:spPr bwMode="auto">
          <a:xfrm>
            <a:off x="4606020" y="6613029"/>
            <a:ext cx="6923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- </a:t>
            </a:r>
            <a:fld id="{4E81BA3D-65FB-4B09-89EB-BF3511329DF3}" type="slidenum">
              <a:rPr kumimoji="1" lang="en-US" altLang="ko-KR" sz="900" b="0" i="0" u="none" strike="noStrike" cap="none" normalizeH="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 -</a:t>
            </a:r>
            <a:endParaRPr kumimoji="1" lang="ko-KR" altLang="ko-KR" sz="1800" b="0" i="0" u="none" strike="noStrike" cap="none" normalizeH="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4D4D4D"/>
              </a:solidFill>
              <a:effectLst/>
              <a:latin typeface="아리따-돋움(TTF)-SemiBold" panose="02020603020101020101" pitchFamily="18" charset="-127"/>
              <a:ea typeface="아리따-돋움(TTF)-SemiBold" panose="02020603020101020101" pitchFamily="18" charset="-127"/>
              <a:cs typeface="굴림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77" y="6630485"/>
            <a:ext cx="1202293" cy="11815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65" y="6607767"/>
            <a:ext cx="904885" cy="147857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8405526" y="0"/>
            <a:ext cx="1498887" cy="113638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322262" y="554865"/>
            <a:ext cx="9259888" cy="3424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텍스트 개체 틀 17"/>
          <p:cNvSpPr txBox="1">
            <a:spLocks/>
          </p:cNvSpPr>
          <p:nvPr/>
        </p:nvSpPr>
        <p:spPr>
          <a:xfrm>
            <a:off x="8962599" y="328748"/>
            <a:ext cx="597921" cy="215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8CBF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ctr" anchorCtr="0">
            <a:sp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kumimoji="1" lang="ko-KR" altLang="en-US" sz="1400" kern="1200" dirty="0">
                <a:solidFill>
                  <a:schemeClr val="accent1">
                    <a:lumMod val="75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굴림" pitchFamily="50" charset="-127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latinLnBrk="0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6699"/>
                </a:solidFill>
                <a:latin typeface="아리따-돋움4.0(OTF)-Bold" pitchFamily="18" charset="-127"/>
                <a:ea typeface="아리따-돋움4.0(OTF)-Bold" pitchFamily="18" charset="-127"/>
              </a:rPr>
              <a:t>중간 보고</a:t>
            </a:r>
          </a:p>
        </p:txBody>
      </p:sp>
    </p:spTree>
    <p:extLst>
      <p:ext uri="{BB962C8B-B14F-4D97-AF65-F5344CB8AC3E}">
        <p14:creationId xmlns:p14="http://schemas.microsoft.com/office/powerpoint/2010/main" val="3533856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장-프로젝트 개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07" r="29443"/>
          <a:stretch/>
        </p:blipFill>
        <p:spPr>
          <a:xfrm>
            <a:off x="8405526" y="0"/>
            <a:ext cx="1498887" cy="1136380"/>
          </a:xfrm>
          <a:prstGeom prst="rect">
            <a:avLst/>
          </a:prstGeom>
        </p:spPr>
      </p:pic>
      <p:sp>
        <p:nvSpPr>
          <p:cNvPr id="16" name="Rectangle 75"/>
          <p:cNvSpPr>
            <a:spLocks noChangeArrowheads="1"/>
          </p:cNvSpPr>
          <p:nvPr userDrawn="1"/>
        </p:nvSpPr>
        <p:spPr bwMode="auto">
          <a:xfrm>
            <a:off x="4606020" y="6613029"/>
            <a:ext cx="6923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- </a:t>
            </a:r>
            <a:fld id="{4E81BA3D-65FB-4B09-89EB-BF3511329DF3}" type="slidenum">
              <a:rPr kumimoji="1" lang="en-US" altLang="ko-KR" sz="900" b="0" i="0" u="none" strike="noStrike" cap="none" normalizeH="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 -</a:t>
            </a:r>
            <a:endParaRPr kumimoji="1" lang="ko-KR" altLang="ko-KR" sz="1800" b="0" i="0" u="none" strike="noStrike" cap="none" normalizeH="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4D4D4D"/>
              </a:solidFill>
              <a:effectLst/>
              <a:latin typeface="아리따-돋움(TTF)-SemiBold" panose="02020603020101020101" pitchFamily="18" charset="-127"/>
              <a:ea typeface="아리따-돋움(TTF)-SemiBold" panose="02020603020101020101" pitchFamily="18" charset="-127"/>
              <a:cs typeface="굴림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77" y="6630485"/>
            <a:ext cx="1202293" cy="11815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65" y="6607767"/>
            <a:ext cx="904885" cy="147857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8405526" y="0"/>
            <a:ext cx="1498887" cy="113638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322262" y="554865"/>
            <a:ext cx="9259888" cy="34241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텍스트 개체 틀 17"/>
          <p:cNvSpPr txBox="1">
            <a:spLocks/>
          </p:cNvSpPr>
          <p:nvPr/>
        </p:nvSpPr>
        <p:spPr>
          <a:xfrm>
            <a:off x="8959393" y="328748"/>
            <a:ext cx="601127" cy="215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B8CBF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2700" dir="54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none" lIns="0" tIns="0" rIns="0" bIns="0" anchor="ctr" anchorCtr="0">
            <a:sp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None/>
              <a:defRPr kumimoji="1" lang="ko-KR" altLang="en-US" sz="1400" kern="1200" dirty="0">
                <a:solidFill>
                  <a:schemeClr val="accent1">
                    <a:lumMod val="75000"/>
                  </a:schemeClr>
                </a:solidFill>
                <a:latin typeface="나눔고딕 ExtraBold" pitchFamily="50" charset="-127"/>
                <a:ea typeface="나눔고딕 ExtraBold" pitchFamily="50" charset="-127"/>
                <a:cs typeface="굴림" pitchFamily="50" charset="-127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lang="ko-KR" altLang="en-US" sz="1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lang="ko-KR" altLang="en-U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latinLnBrk="0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6699"/>
                </a:solidFill>
                <a:latin typeface="아리따-돋움4.0(OTF)-Bold" pitchFamily="18" charset="-127"/>
                <a:ea typeface="아리따-돋움4.0(OTF)-Bold" pitchFamily="18" charset="-127"/>
              </a:rPr>
              <a:t>중간 보고</a:t>
            </a:r>
          </a:p>
        </p:txBody>
      </p:sp>
    </p:spTree>
    <p:extLst>
      <p:ext uri="{BB962C8B-B14F-4D97-AF65-F5344CB8AC3E}">
        <p14:creationId xmlns:p14="http://schemas.microsoft.com/office/powerpoint/2010/main" val="343739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장-추진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07" r="29443"/>
          <a:stretch/>
        </p:blipFill>
        <p:spPr>
          <a:xfrm>
            <a:off x="8405526" y="0"/>
            <a:ext cx="1498887" cy="1136380"/>
          </a:xfrm>
          <a:prstGeom prst="rect">
            <a:avLst/>
          </a:prstGeom>
        </p:spPr>
      </p:pic>
      <p:grpSp>
        <p:nvGrpSpPr>
          <p:cNvPr id="12" name="그룹 11"/>
          <p:cNvGrpSpPr/>
          <p:nvPr userDrawn="1"/>
        </p:nvGrpSpPr>
        <p:grpSpPr>
          <a:xfrm>
            <a:off x="4754471" y="6620019"/>
            <a:ext cx="130868" cy="130868"/>
            <a:chOff x="3612584" y="5888518"/>
            <a:chExt cx="130868" cy="130868"/>
          </a:xfrm>
        </p:grpSpPr>
        <p:sp>
          <p:nvSpPr>
            <p:cNvPr id="13" name="타원 12"/>
            <p:cNvSpPr/>
            <p:nvPr/>
          </p:nvSpPr>
          <p:spPr>
            <a:xfrm>
              <a:off x="3612584" y="5888518"/>
              <a:ext cx="130868" cy="130868"/>
            </a:xfrm>
            <a:prstGeom prst="ellipse">
              <a:avLst/>
            </a:prstGeom>
            <a:solidFill>
              <a:srgbClr val="1FA1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아리따-돋움(TTF)-Bold" panose="02020603020101020101" pitchFamily="18" charset="-127"/>
                <a:ea typeface="아리따-돋움(TTF)-Bold" panose="02020603020101020101" pitchFamily="18" charset="-127"/>
              </a:endParaRPr>
            </a:p>
          </p:txBody>
        </p:sp>
        <p:sp>
          <p:nvSpPr>
            <p:cNvPr id="14" name="Rectangle 75"/>
            <p:cNvSpPr>
              <a:spLocks noChangeArrowheads="1"/>
            </p:cNvSpPr>
            <p:nvPr/>
          </p:nvSpPr>
          <p:spPr bwMode="auto">
            <a:xfrm>
              <a:off x="3652370" y="5892396"/>
              <a:ext cx="5129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latin typeface="아리따-돋움(TTF)-Bold" panose="02020603020101020101" pitchFamily="18" charset="-127"/>
                  <a:ea typeface="아리따-돋움(TTF)-Bold" panose="02020603020101020101" pitchFamily="18" charset="-127"/>
                  <a:cs typeface="굴림" pitchFamily="50" charset="-127"/>
                </a:rPr>
                <a:t>1</a:t>
              </a:r>
              <a:endParaRPr kumimoji="1" lang="ko-KR" altLang="ko-KR" sz="16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아리따-돋움(TTF)-Bold" panose="02020603020101020101" pitchFamily="18" charset="-127"/>
                <a:ea typeface="아리따-돋움(TTF)-Bold" panose="02020603020101020101" pitchFamily="18" charset="-127"/>
                <a:cs typeface="굴림" pitchFamily="50" charset="-127"/>
              </a:endParaRPr>
            </a:p>
          </p:txBody>
        </p:sp>
      </p:grpSp>
      <p:sp>
        <p:nvSpPr>
          <p:cNvPr id="16" name="Rectangle 75"/>
          <p:cNvSpPr>
            <a:spLocks noChangeArrowheads="1"/>
          </p:cNvSpPr>
          <p:nvPr userDrawn="1"/>
        </p:nvSpPr>
        <p:spPr bwMode="auto">
          <a:xfrm>
            <a:off x="4951194" y="6613029"/>
            <a:ext cx="6923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- </a:t>
            </a:r>
            <a:fld id="{4E81BA3D-65FB-4B09-89EB-BF3511329DF3}" type="slidenum">
              <a:rPr kumimoji="1" lang="en-US" altLang="ko-KR" sz="900" b="0" i="0" u="none" strike="noStrike" cap="none" normalizeH="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ko-KR" altLang="ko-KR" sz="1800" b="0" i="0" u="none" strike="noStrike" cap="none" normalizeH="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4D4D4D"/>
              </a:solidFill>
              <a:effectLst/>
              <a:latin typeface="아리따-돋움(TTF)-SemiBold" panose="02020603020101020101" pitchFamily="18" charset="-127"/>
              <a:ea typeface="아리따-돋움(TTF)-SemiBold" panose="02020603020101020101" pitchFamily="18" charset="-127"/>
              <a:cs typeface="굴림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77" y="6630485"/>
            <a:ext cx="1202293" cy="118156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65" y="6607767"/>
            <a:ext cx="904885" cy="147857"/>
          </a:xfrm>
          <a:prstGeom prst="rect">
            <a:avLst/>
          </a:prstGeom>
        </p:spPr>
      </p:pic>
      <p:sp>
        <p:nvSpPr>
          <p:cNvPr id="5" name="직사각형 4"/>
          <p:cNvSpPr/>
          <p:nvPr userDrawn="1"/>
        </p:nvSpPr>
        <p:spPr>
          <a:xfrm>
            <a:off x="8405526" y="0"/>
            <a:ext cx="1498887" cy="113638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322262" y="554865"/>
            <a:ext cx="9259888" cy="3424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575282" y="225652"/>
            <a:ext cx="889224" cy="574132"/>
            <a:chOff x="8625208" y="524162"/>
            <a:chExt cx="889224" cy="574132"/>
          </a:xfrm>
        </p:grpSpPr>
        <p:sp>
          <p:nvSpPr>
            <p:cNvPr id="31" name="텍스트 개체 틀 17"/>
            <p:cNvSpPr txBox="1">
              <a:spLocks/>
            </p:cNvSpPr>
            <p:nvPr/>
          </p:nvSpPr>
          <p:spPr>
            <a:xfrm>
              <a:off x="8625208" y="627258"/>
              <a:ext cx="613950" cy="215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latinLnBrk="0">
                <a:lnSpc>
                  <a:spcPct val="130000"/>
                </a:lnSpc>
              </a:pP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6699"/>
                  </a:solidFill>
                  <a:latin typeface="아리따-돋움4.0(OTF)-Bold" pitchFamily="18" charset="-127"/>
                  <a:ea typeface="아리따-돋움4.0(OTF)-Bold" pitchFamily="18" charset="-127"/>
                </a:rPr>
                <a:t>추진 방안</a:t>
              </a:r>
            </a:p>
          </p:txBody>
        </p:sp>
        <p:sp>
          <p:nvSpPr>
            <p:cNvPr id="32" name="텍스트 개체 틀 17"/>
            <p:cNvSpPr txBox="1">
              <a:spLocks/>
            </p:cNvSpPr>
            <p:nvPr/>
          </p:nvSpPr>
          <p:spPr>
            <a:xfrm>
              <a:off x="9277188" y="524162"/>
              <a:ext cx="237244" cy="574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l" defTabSz="914400" rtl="0" eaLnBrk="1" latinLnBrk="0" hangingPunct="1">
                <a:lnSpc>
                  <a:spcPct val="130000"/>
                </a:lnSpc>
                <a:spcBef>
                  <a:spcPct val="20000"/>
                </a:spcBef>
                <a:buFont typeface="Arial" panose="020B0604020202020204" pitchFamily="34" charset="0"/>
                <a:buNone/>
              </a:pPr>
              <a:r>
                <a:rPr kumimoji="1" lang="en-US" altLang="ko-KR" sz="32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57000">
                        <a:srgbClr val="006699"/>
                      </a:gs>
                      <a:gs pos="58000">
                        <a:schemeClr val="bg1"/>
                      </a:gs>
                    </a:gsLst>
                    <a:lin ang="5400000" scaled="0"/>
                  </a:gradFill>
                  <a:latin typeface="아리따-돋움4.0(OTF)-Bold" pitchFamily="18" charset="-127"/>
                  <a:ea typeface="아리따-돋움4.0(OTF)-Bold" pitchFamily="18" charset="-127"/>
                  <a:cs typeface="굴림" pitchFamily="50" charset="-127"/>
                </a:rPr>
                <a:t>2</a:t>
              </a:r>
              <a:endParaRPr kumimoji="1" lang="ko-KR" altLang="en-US" sz="3200" kern="12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57000">
                      <a:srgbClr val="006699"/>
                    </a:gs>
                    <a:gs pos="58000">
                      <a:schemeClr val="bg1"/>
                    </a:gs>
                  </a:gsLst>
                  <a:lin ang="5400000" scaled="0"/>
                </a:gradFill>
                <a:latin typeface="아리따-돋움4.0(OTF)-Bold" pitchFamily="18" charset="-127"/>
                <a:ea typeface="아리따-돋움4.0(OTF)-Bold" pitchFamily="18" charset="-127"/>
                <a:cs typeface="굴림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17948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장-추진 일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4754471" y="6620019"/>
            <a:ext cx="130868" cy="130868"/>
            <a:chOff x="3612584" y="5888518"/>
            <a:chExt cx="130868" cy="130868"/>
          </a:xfrm>
        </p:grpSpPr>
        <p:sp>
          <p:nvSpPr>
            <p:cNvPr id="13" name="타원 12"/>
            <p:cNvSpPr/>
            <p:nvPr/>
          </p:nvSpPr>
          <p:spPr>
            <a:xfrm>
              <a:off x="3612584" y="5888518"/>
              <a:ext cx="130868" cy="130868"/>
            </a:xfrm>
            <a:prstGeom prst="ellipse">
              <a:avLst/>
            </a:prstGeom>
            <a:solidFill>
              <a:srgbClr val="1FA1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아리따-돋움(TTF)-Bold" panose="02020603020101020101" pitchFamily="18" charset="-127"/>
                <a:ea typeface="아리따-돋움(TTF)-Bold" panose="02020603020101020101" pitchFamily="18" charset="-127"/>
              </a:endParaRPr>
            </a:p>
          </p:txBody>
        </p:sp>
        <p:sp>
          <p:nvSpPr>
            <p:cNvPr id="14" name="Rectangle 75"/>
            <p:cNvSpPr>
              <a:spLocks noChangeArrowheads="1"/>
            </p:cNvSpPr>
            <p:nvPr/>
          </p:nvSpPr>
          <p:spPr bwMode="auto">
            <a:xfrm>
              <a:off x="3652370" y="5892396"/>
              <a:ext cx="5129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latin typeface="아리따-돋움(TTF)-Bold" panose="02020603020101020101" pitchFamily="18" charset="-127"/>
                  <a:ea typeface="아리따-돋움(TTF)-Bold" panose="02020603020101020101" pitchFamily="18" charset="-127"/>
                  <a:cs typeface="굴림" pitchFamily="50" charset="-127"/>
                </a:rPr>
                <a:t>3</a:t>
              </a:r>
              <a:endParaRPr kumimoji="1" lang="ko-KR" altLang="ko-KR" sz="16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아리따-돋움(TTF)-Bold" panose="02020603020101020101" pitchFamily="18" charset="-127"/>
                <a:ea typeface="아리따-돋움(TTF)-Bold" panose="02020603020101020101" pitchFamily="18" charset="-127"/>
                <a:cs typeface="굴림" pitchFamily="50" charset="-127"/>
              </a:endParaRPr>
            </a:p>
          </p:txBody>
        </p:sp>
      </p:grpSp>
      <p:pic>
        <p:nvPicPr>
          <p:cNvPr id="30" name="그림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77" y="6630485"/>
            <a:ext cx="1202293" cy="118156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65" y="6607767"/>
            <a:ext cx="904885" cy="147857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07" r="29443"/>
          <a:stretch/>
        </p:blipFill>
        <p:spPr>
          <a:xfrm>
            <a:off x="8405526" y="0"/>
            <a:ext cx="1498887" cy="1136380"/>
          </a:xfrm>
          <a:prstGeom prst="rect">
            <a:avLst/>
          </a:prstGeom>
        </p:spPr>
      </p:pic>
      <p:sp>
        <p:nvSpPr>
          <p:cNvPr id="19" name="직사각형 18"/>
          <p:cNvSpPr/>
          <p:nvPr userDrawn="1"/>
        </p:nvSpPr>
        <p:spPr>
          <a:xfrm>
            <a:off x="8405526" y="0"/>
            <a:ext cx="1498887" cy="113638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322262" y="554865"/>
            <a:ext cx="9259888" cy="3424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8589709" y="225652"/>
            <a:ext cx="874797" cy="574132"/>
            <a:chOff x="8639635" y="524162"/>
            <a:chExt cx="874797" cy="574132"/>
          </a:xfrm>
        </p:grpSpPr>
        <p:sp>
          <p:nvSpPr>
            <p:cNvPr id="34" name="텍스트 개체 틀 17"/>
            <p:cNvSpPr txBox="1">
              <a:spLocks/>
            </p:cNvSpPr>
            <p:nvPr/>
          </p:nvSpPr>
          <p:spPr>
            <a:xfrm>
              <a:off x="8639635" y="627258"/>
              <a:ext cx="599523" cy="215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latinLnBrk="0">
                <a:lnSpc>
                  <a:spcPct val="130000"/>
                </a:lnSpc>
              </a:pP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6699"/>
                  </a:solidFill>
                  <a:latin typeface="아리따-돋움4.0(OTF)-Bold" pitchFamily="18" charset="-127"/>
                  <a:ea typeface="아리따-돋움4.0(OTF)-Bold" pitchFamily="18" charset="-127"/>
                </a:rPr>
                <a:t>추진 일정</a:t>
              </a:r>
            </a:p>
          </p:txBody>
        </p:sp>
        <p:sp>
          <p:nvSpPr>
            <p:cNvPr id="35" name="텍스트 개체 틀 17"/>
            <p:cNvSpPr txBox="1">
              <a:spLocks/>
            </p:cNvSpPr>
            <p:nvPr/>
          </p:nvSpPr>
          <p:spPr>
            <a:xfrm>
              <a:off x="9277188" y="524162"/>
              <a:ext cx="237244" cy="574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30000"/>
                </a:lnSpc>
              </a:pPr>
              <a:r>
                <a:rPr lang="en-US" altLang="ko-KR" sz="3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57000">
                        <a:srgbClr val="006699"/>
                      </a:gs>
                      <a:gs pos="58000">
                        <a:schemeClr val="bg1"/>
                      </a:gs>
                    </a:gsLst>
                    <a:lin ang="5400000" scaled="0"/>
                  </a:gradFill>
                  <a:latin typeface="아리따-돋움4.0(OTF)-Bold" pitchFamily="18" charset="-127"/>
                  <a:ea typeface="아리따-돋움4.0(OTF)-Bold" pitchFamily="18" charset="-127"/>
                </a:rPr>
                <a:t>3</a:t>
              </a:r>
              <a:endParaRPr lang="ko-KR" altLang="en-US" sz="32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57000">
                      <a:srgbClr val="006699"/>
                    </a:gs>
                    <a:gs pos="58000">
                      <a:schemeClr val="bg1"/>
                    </a:gs>
                  </a:gsLst>
                  <a:lin ang="5400000" scaled="0"/>
                </a:gradFill>
                <a:latin typeface="아리따-돋움4.0(OTF)-Bold" pitchFamily="18" charset="-127"/>
                <a:ea typeface="아리따-돋움4.0(OTF)-Bold" pitchFamily="18" charset="-127"/>
              </a:endParaRPr>
            </a:p>
          </p:txBody>
        </p:sp>
      </p:grpSp>
      <p:sp>
        <p:nvSpPr>
          <p:cNvPr id="15" name="Rectangle 75"/>
          <p:cNvSpPr>
            <a:spLocks noChangeArrowheads="1"/>
          </p:cNvSpPr>
          <p:nvPr userDrawn="1"/>
        </p:nvSpPr>
        <p:spPr bwMode="auto">
          <a:xfrm>
            <a:off x="4951194" y="6613029"/>
            <a:ext cx="6923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- </a:t>
            </a:r>
            <a:fld id="{4E81BA3D-65FB-4B09-89EB-BF3511329DF3}" type="slidenum">
              <a:rPr kumimoji="1" lang="en-US" altLang="ko-KR" sz="900" b="0" i="0" u="none" strike="noStrike" cap="none" normalizeH="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ko-KR" altLang="ko-KR" sz="1800" b="0" i="0" u="none" strike="noStrike" cap="none" normalizeH="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4D4D4D"/>
              </a:solidFill>
              <a:effectLst/>
              <a:latin typeface="아리따-돋움(TTF)-SemiBold" panose="02020603020101020101" pitchFamily="18" charset="-127"/>
              <a:ea typeface="아리따-돋움(TTF)-SemiBold" panose="02020603020101020101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93913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장-인력 투입 계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4754471" y="6620019"/>
            <a:ext cx="130868" cy="130868"/>
            <a:chOff x="3612584" y="5888518"/>
            <a:chExt cx="130868" cy="130868"/>
          </a:xfrm>
        </p:grpSpPr>
        <p:sp>
          <p:nvSpPr>
            <p:cNvPr id="13" name="타원 12"/>
            <p:cNvSpPr/>
            <p:nvPr/>
          </p:nvSpPr>
          <p:spPr>
            <a:xfrm>
              <a:off x="3612584" y="5888518"/>
              <a:ext cx="130868" cy="130868"/>
            </a:xfrm>
            <a:prstGeom prst="ellipse">
              <a:avLst/>
            </a:prstGeom>
            <a:solidFill>
              <a:srgbClr val="1FA1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아리따-돋움(TTF)-Bold" panose="02020603020101020101" pitchFamily="18" charset="-127"/>
                <a:ea typeface="아리따-돋움(TTF)-Bold" panose="02020603020101020101" pitchFamily="18" charset="-127"/>
              </a:endParaRPr>
            </a:p>
          </p:txBody>
        </p:sp>
        <p:sp>
          <p:nvSpPr>
            <p:cNvPr id="14" name="Rectangle 75"/>
            <p:cNvSpPr>
              <a:spLocks noChangeArrowheads="1"/>
            </p:cNvSpPr>
            <p:nvPr/>
          </p:nvSpPr>
          <p:spPr bwMode="auto">
            <a:xfrm>
              <a:off x="3652370" y="5892396"/>
              <a:ext cx="5129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latin typeface="아리따-돋움(TTF)-Bold" panose="02020603020101020101" pitchFamily="18" charset="-127"/>
                  <a:ea typeface="아리따-돋움(TTF)-Bold" panose="02020603020101020101" pitchFamily="18" charset="-127"/>
                  <a:cs typeface="굴림" pitchFamily="50" charset="-127"/>
                </a:rPr>
                <a:t>4</a:t>
              </a:r>
              <a:endParaRPr kumimoji="1" lang="ko-KR" altLang="ko-KR" sz="16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아리따-돋움(TTF)-Bold" panose="02020603020101020101" pitchFamily="18" charset="-127"/>
                <a:ea typeface="아리따-돋움(TTF)-Bold" panose="02020603020101020101" pitchFamily="18" charset="-127"/>
                <a:cs typeface="굴림" pitchFamily="50" charset="-127"/>
              </a:endParaRPr>
            </a:p>
          </p:txBody>
        </p:sp>
      </p:grpSp>
      <p:pic>
        <p:nvPicPr>
          <p:cNvPr id="30" name="그림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77" y="6630485"/>
            <a:ext cx="1202293" cy="118156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65" y="6607767"/>
            <a:ext cx="904885" cy="147857"/>
          </a:xfrm>
          <a:prstGeom prst="rect">
            <a:avLst/>
          </a:prstGeom>
        </p:spPr>
      </p:pic>
      <p:pic>
        <p:nvPicPr>
          <p:cNvPr id="24" name="그림 23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07" r="29443"/>
          <a:stretch/>
        </p:blipFill>
        <p:spPr>
          <a:xfrm>
            <a:off x="8405526" y="0"/>
            <a:ext cx="1498887" cy="1136380"/>
          </a:xfrm>
          <a:prstGeom prst="rect">
            <a:avLst/>
          </a:prstGeom>
        </p:spPr>
      </p:pic>
      <p:sp>
        <p:nvSpPr>
          <p:cNvPr id="25" name="직사각형 24"/>
          <p:cNvSpPr/>
          <p:nvPr userDrawn="1"/>
        </p:nvSpPr>
        <p:spPr>
          <a:xfrm>
            <a:off x="8405526" y="0"/>
            <a:ext cx="1498887" cy="113638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322262" y="554865"/>
            <a:ext cx="9259888" cy="3424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1" name="그룹 20"/>
          <p:cNvGrpSpPr/>
          <p:nvPr userDrawn="1"/>
        </p:nvGrpSpPr>
        <p:grpSpPr>
          <a:xfrm>
            <a:off x="8253078" y="225652"/>
            <a:ext cx="1211428" cy="574132"/>
            <a:chOff x="8303004" y="524162"/>
            <a:chExt cx="1211428" cy="574132"/>
          </a:xfrm>
        </p:grpSpPr>
        <p:sp>
          <p:nvSpPr>
            <p:cNvPr id="22" name="텍스트 개체 틀 17"/>
            <p:cNvSpPr txBox="1">
              <a:spLocks/>
            </p:cNvSpPr>
            <p:nvPr/>
          </p:nvSpPr>
          <p:spPr>
            <a:xfrm>
              <a:off x="8303004" y="627258"/>
              <a:ext cx="936154" cy="215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latinLnBrk="0">
                <a:lnSpc>
                  <a:spcPct val="130000"/>
                </a:lnSpc>
              </a:pP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6699"/>
                  </a:solidFill>
                  <a:latin typeface="아리따-돋움4.0(OTF)-Bold" pitchFamily="18" charset="-127"/>
                  <a:ea typeface="아리따-돋움4.0(OTF)-Bold" pitchFamily="18" charset="-127"/>
                </a:rPr>
                <a:t>인력 투입 계획</a:t>
              </a:r>
            </a:p>
          </p:txBody>
        </p:sp>
        <p:sp>
          <p:nvSpPr>
            <p:cNvPr id="23" name="텍스트 개체 틀 17"/>
            <p:cNvSpPr txBox="1">
              <a:spLocks/>
            </p:cNvSpPr>
            <p:nvPr/>
          </p:nvSpPr>
          <p:spPr>
            <a:xfrm>
              <a:off x="9277188" y="524162"/>
              <a:ext cx="237244" cy="574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30000"/>
                </a:lnSpc>
              </a:pPr>
              <a:r>
                <a:rPr lang="en-US" altLang="ko-KR" sz="3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57000">
                        <a:srgbClr val="006699"/>
                      </a:gs>
                      <a:gs pos="58000">
                        <a:schemeClr val="bg1"/>
                      </a:gs>
                    </a:gsLst>
                    <a:lin ang="5400000" scaled="0"/>
                  </a:gradFill>
                  <a:latin typeface="아리따-돋움4.0(OTF)-Bold" pitchFamily="18" charset="-127"/>
                  <a:ea typeface="아리따-돋움4.0(OTF)-Bold" pitchFamily="18" charset="-127"/>
                </a:rPr>
                <a:t>4</a:t>
              </a:r>
              <a:endParaRPr lang="ko-KR" altLang="en-US" sz="32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57000">
                      <a:srgbClr val="006699"/>
                    </a:gs>
                    <a:gs pos="58000">
                      <a:schemeClr val="bg1"/>
                    </a:gs>
                  </a:gsLst>
                  <a:lin ang="5400000" scaled="0"/>
                </a:gradFill>
                <a:latin typeface="아리따-돋움4.0(OTF)-Bold" pitchFamily="18" charset="-127"/>
                <a:ea typeface="아리따-돋움4.0(OTF)-Bold" pitchFamily="18" charset="-127"/>
              </a:endParaRPr>
            </a:p>
          </p:txBody>
        </p:sp>
      </p:grpSp>
      <p:sp>
        <p:nvSpPr>
          <p:cNvPr id="15" name="Rectangle 75"/>
          <p:cNvSpPr>
            <a:spLocks noChangeArrowheads="1"/>
          </p:cNvSpPr>
          <p:nvPr userDrawn="1"/>
        </p:nvSpPr>
        <p:spPr bwMode="auto">
          <a:xfrm>
            <a:off x="4951194" y="6613029"/>
            <a:ext cx="6923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- </a:t>
            </a:r>
            <a:fld id="{4E81BA3D-65FB-4B09-89EB-BF3511329DF3}" type="slidenum">
              <a:rPr kumimoji="1" lang="en-US" altLang="ko-KR" sz="900" b="0" i="0" u="none" strike="noStrike" cap="none" normalizeH="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ko-KR" altLang="ko-KR" sz="1800" b="0" i="0" u="none" strike="noStrike" cap="none" normalizeH="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4D4D4D"/>
              </a:solidFill>
              <a:effectLst/>
              <a:latin typeface="아리따-돋움(TTF)-SemiBold" panose="02020603020101020101" pitchFamily="18" charset="-127"/>
              <a:ea typeface="아리따-돋움(TTF)-SemiBold" panose="02020603020101020101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8792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장-프로젝트 수행 조직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4754471" y="6620019"/>
            <a:ext cx="130868" cy="130868"/>
            <a:chOff x="3612584" y="5888518"/>
            <a:chExt cx="130868" cy="130868"/>
          </a:xfrm>
        </p:grpSpPr>
        <p:sp>
          <p:nvSpPr>
            <p:cNvPr id="13" name="타원 12"/>
            <p:cNvSpPr/>
            <p:nvPr/>
          </p:nvSpPr>
          <p:spPr>
            <a:xfrm>
              <a:off x="3612584" y="5888518"/>
              <a:ext cx="130868" cy="130868"/>
            </a:xfrm>
            <a:prstGeom prst="ellipse">
              <a:avLst/>
            </a:prstGeom>
            <a:solidFill>
              <a:srgbClr val="1FA1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아리따-돋움(TTF)-Bold" panose="02020603020101020101" pitchFamily="18" charset="-127"/>
                <a:ea typeface="아리따-돋움(TTF)-Bold" panose="02020603020101020101" pitchFamily="18" charset="-127"/>
              </a:endParaRPr>
            </a:p>
          </p:txBody>
        </p:sp>
        <p:sp>
          <p:nvSpPr>
            <p:cNvPr id="14" name="Rectangle 75"/>
            <p:cNvSpPr>
              <a:spLocks noChangeArrowheads="1"/>
            </p:cNvSpPr>
            <p:nvPr/>
          </p:nvSpPr>
          <p:spPr bwMode="auto">
            <a:xfrm>
              <a:off x="3652370" y="5892396"/>
              <a:ext cx="5129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latin typeface="아리따-돋움(TTF)-Bold" panose="02020603020101020101" pitchFamily="18" charset="-127"/>
                  <a:ea typeface="아리따-돋움(TTF)-Bold" panose="02020603020101020101" pitchFamily="18" charset="-127"/>
                  <a:cs typeface="굴림" pitchFamily="50" charset="-127"/>
                </a:rPr>
                <a:t>5</a:t>
              </a:r>
              <a:endParaRPr kumimoji="1" lang="ko-KR" altLang="ko-KR" sz="16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아리따-돋움(TTF)-Bold" panose="02020603020101020101" pitchFamily="18" charset="-127"/>
                <a:ea typeface="아리따-돋움(TTF)-Bold" panose="02020603020101020101" pitchFamily="18" charset="-127"/>
                <a:cs typeface="굴림" pitchFamily="50" charset="-127"/>
              </a:endParaRPr>
            </a:p>
          </p:txBody>
        </p:sp>
      </p:grpSp>
      <p:pic>
        <p:nvPicPr>
          <p:cNvPr id="30" name="그림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77" y="6630485"/>
            <a:ext cx="1202293" cy="118156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65" y="6607767"/>
            <a:ext cx="904885" cy="147857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07" r="29443"/>
          <a:stretch/>
        </p:blipFill>
        <p:spPr>
          <a:xfrm>
            <a:off x="8405526" y="0"/>
            <a:ext cx="1498887" cy="1136380"/>
          </a:xfrm>
          <a:prstGeom prst="rect">
            <a:avLst/>
          </a:prstGeom>
        </p:spPr>
      </p:pic>
      <p:sp>
        <p:nvSpPr>
          <p:cNvPr id="19" name="직사각형 18"/>
          <p:cNvSpPr/>
          <p:nvPr userDrawn="1"/>
        </p:nvSpPr>
        <p:spPr>
          <a:xfrm>
            <a:off x="8405526" y="0"/>
            <a:ext cx="1498887" cy="113638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322262" y="554865"/>
            <a:ext cx="9259888" cy="3424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7849123" y="225652"/>
            <a:ext cx="1615383" cy="574132"/>
            <a:chOff x="7899049" y="524162"/>
            <a:chExt cx="1615383" cy="574132"/>
          </a:xfrm>
        </p:grpSpPr>
        <p:sp>
          <p:nvSpPr>
            <p:cNvPr id="34" name="텍스트 개체 틀 17"/>
            <p:cNvSpPr txBox="1">
              <a:spLocks/>
            </p:cNvSpPr>
            <p:nvPr/>
          </p:nvSpPr>
          <p:spPr>
            <a:xfrm>
              <a:off x="7899049" y="627258"/>
              <a:ext cx="1340110" cy="215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latinLnBrk="0">
                <a:lnSpc>
                  <a:spcPct val="130000"/>
                </a:lnSpc>
              </a:pP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6699"/>
                  </a:solidFill>
                  <a:latin typeface="아리따-돋움4.0(OTF)-Bold" pitchFamily="18" charset="-127"/>
                  <a:ea typeface="아리따-돋움4.0(OTF)-Bold" pitchFamily="18" charset="-127"/>
                </a:rPr>
                <a:t>프로젝트 수행 조직도</a:t>
              </a:r>
            </a:p>
          </p:txBody>
        </p:sp>
        <p:sp>
          <p:nvSpPr>
            <p:cNvPr id="35" name="텍스트 개체 틀 17"/>
            <p:cNvSpPr txBox="1">
              <a:spLocks/>
            </p:cNvSpPr>
            <p:nvPr/>
          </p:nvSpPr>
          <p:spPr>
            <a:xfrm>
              <a:off x="9277188" y="524162"/>
              <a:ext cx="237244" cy="574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indent="0" algn="l" defTabSz="914400" rtl="0" eaLnBrk="1" fontAlgn="auto" latinLnBrk="0" hangingPunct="1">
                <a:lnSpc>
                  <a:spcPct val="13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en-US" altLang="ko-KR" sz="3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57000">
                        <a:srgbClr val="006699"/>
                      </a:gs>
                      <a:gs pos="58000">
                        <a:schemeClr val="bg1"/>
                      </a:gs>
                    </a:gsLst>
                    <a:lin ang="5400000" scaled="0"/>
                  </a:gradFill>
                  <a:latin typeface="아리따-돋움4.0(OTF)-Bold" pitchFamily="18" charset="-127"/>
                  <a:ea typeface="아리따-돋움4.0(OTF)-Bold" pitchFamily="18" charset="-127"/>
                </a:rPr>
                <a:t>5</a:t>
              </a:r>
              <a:endParaRPr lang="ko-KR" altLang="en-US" sz="32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57000">
                      <a:srgbClr val="006699"/>
                    </a:gs>
                    <a:gs pos="58000">
                      <a:schemeClr val="bg1"/>
                    </a:gs>
                  </a:gsLst>
                  <a:lin ang="5400000" scaled="0"/>
                </a:gradFill>
                <a:latin typeface="아리따-돋움4.0(OTF)-Bold" pitchFamily="18" charset="-127"/>
                <a:ea typeface="아리따-돋움4.0(OTF)-Bold" pitchFamily="18" charset="-127"/>
              </a:endParaRPr>
            </a:p>
          </p:txBody>
        </p:sp>
      </p:grpSp>
      <p:sp>
        <p:nvSpPr>
          <p:cNvPr id="15" name="Rectangle 75"/>
          <p:cNvSpPr>
            <a:spLocks noChangeArrowheads="1"/>
          </p:cNvSpPr>
          <p:nvPr userDrawn="1"/>
        </p:nvSpPr>
        <p:spPr bwMode="auto">
          <a:xfrm>
            <a:off x="4951194" y="6613029"/>
            <a:ext cx="6923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- </a:t>
            </a:r>
            <a:fld id="{4E81BA3D-65FB-4B09-89EB-BF3511329DF3}" type="slidenum">
              <a:rPr kumimoji="1" lang="en-US" altLang="ko-KR" sz="900" b="0" i="0" u="none" strike="noStrike" cap="none" normalizeH="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ko-KR" altLang="ko-KR" sz="1800" b="0" i="0" u="none" strike="noStrike" cap="none" normalizeH="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4D4D4D"/>
              </a:solidFill>
              <a:effectLst/>
              <a:latin typeface="아리따-돋움(TTF)-SemiBold" panose="02020603020101020101" pitchFamily="18" charset="-127"/>
              <a:ea typeface="아리따-돋움(TTF)-SemiBold" panose="02020603020101020101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13019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장-프로젝트 관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4754471" y="6620019"/>
            <a:ext cx="130868" cy="130868"/>
            <a:chOff x="3612584" y="5888518"/>
            <a:chExt cx="130868" cy="130868"/>
          </a:xfrm>
        </p:grpSpPr>
        <p:sp>
          <p:nvSpPr>
            <p:cNvPr id="13" name="타원 12"/>
            <p:cNvSpPr/>
            <p:nvPr/>
          </p:nvSpPr>
          <p:spPr>
            <a:xfrm>
              <a:off x="3612584" y="5888518"/>
              <a:ext cx="130868" cy="130868"/>
            </a:xfrm>
            <a:prstGeom prst="ellipse">
              <a:avLst/>
            </a:prstGeom>
            <a:solidFill>
              <a:srgbClr val="1FA1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아리따-돋움(TTF)-Bold" panose="02020603020101020101" pitchFamily="18" charset="-127"/>
                <a:ea typeface="아리따-돋움(TTF)-Bold" panose="02020603020101020101" pitchFamily="18" charset="-127"/>
              </a:endParaRPr>
            </a:p>
          </p:txBody>
        </p:sp>
        <p:sp>
          <p:nvSpPr>
            <p:cNvPr id="14" name="Rectangle 75"/>
            <p:cNvSpPr>
              <a:spLocks noChangeArrowheads="1"/>
            </p:cNvSpPr>
            <p:nvPr/>
          </p:nvSpPr>
          <p:spPr bwMode="auto">
            <a:xfrm>
              <a:off x="3652370" y="5892396"/>
              <a:ext cx="5129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latin typeface="아리따-돋움(TTF)-Bold" panose="02020603020101020101" pitchFamily="18" charset="-127"/>
                  <a:ea typeface="아리따-돋움(TTF)-Bold" panose="02020603020101020101" pitchFamily="18" charset="-127"/>
                  <a:cs typeface="굴림" pitchFamily="50" charset="-127"/>
                </a:rPr>
                <a:t>6</a:t>
              </a:r>
              <a:endParaRPr kumimoji="1" lang="ko-KR" altLang="ko-KR" sz="16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아리따-돋움(TTF)-Bold" panose="02020603020101020101" pitchFamily="18" charset="-127"/>
                <a:ea typeface="아리따-돋움(TTF)-Bold" panose="02020603020101020101" pitchFamily="18" charset="-127"/>
                <a:cs typeface="굴림" pitchFamily="50" charset="-127"/>
              </a:endParaRPr>
            </a:p>
          </p:txBody>
        </p:sp>
      </p:grpSp>
      <p:pic>
        <p:nvPicPr>
          <p:cNvPr id="30" name="그림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77" y="6630485"/>
            <a:ext cx="1202293" cy="118156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65" y="6607767"/>
            <a:ext cx="904885" cy="147857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07" r="29443"/>
          <a:stretch/>
        </p:blipFill>
        <p:spPr>
          <a:xfrm>
            <a:off x="8405526" y="0"/>
            <a:ext cx="1498887" cy="1136380"/>
          </a:xfrm>
          <a:prstGeom prst="rect">
            <a:avLst/>
          </a:prstGeom>
        </p:spPr>
      </p:pic>
      <p:sp>
        <p:nvSpPr>
          <p:cNvPr id="19" name="직사각형 18"/>
          <p:cNvSpPr/>
          <p:nvPr userDrawn="1"/>
        </p:nvSpPr>
        <p:spPr>
          <a:xfrm>
            <a:off x="8405526" y="0"/>
            <a:ext cx="1498887" cy="113638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322262" y="554865"/>
            <a:ext cx="9259888" cy="3424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8302772" y="225652"/>
            <a:ext cx="1161734" cy="574132"/>
            <a:chOff x="8352698" y="524162"/>
            <a:chExt cx="1161734" cy="574132"/>
          </a:xfrm>
        </p:grpSpPr>
        <p:sp>
          <p:nvSpPr>
            <p:cNvPr id="34" name="텍스트 개체 틀 17"/>
            <p:cNvSpPr txBox="1">
              <a:spLocks/>
            </p:cNvSpPr>
            <p:nvPr/>
          </p:nvSpPr>
          <p:spPr>
            <a:xfrm>
              <a:off x="8352698" y="627258"/>
              <a:ext cx="886461" cy="215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latinLnBrk="0">
                <a:lnSpc>
                  <a:spcPct val="130000"/>
                </a:lnSpc>
              </a:pPr>
              <a:r>
                <a:rPr lang="ko-KR" altLang="en-US" sz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6699"/>
                  </a:solidFill>
                  <a:latin typeface="아리따-돋움4.0(OTF)-Bold" pitchFamily="18" charset="-127"/>
                  <a:ea typeface="아리따-돋움4.0(OTF)-Bold" pitchFamily="18" charset="-127"/>
                </a:rPr>
                <a:t>프로젝트 관리</a:t>
              </a:r>
            </a:p>
          </p:txBody>
        </p:sp>
        <p:sp>
          <p:nvSpPr>
            <p:cNvPr id="35" name="텍스트 개체 틀 17"/>
            <p:cNvSpPr txBox="1">
              <a:spLocks/>
            </p:cNvSpPr>
            <p:nvPr/>
          </p:nvSpPr>
          <p:spPr>
            <a:xfrm>
              <a:off x="9277188" y="524162"/>
              <a:ext cx="237244" cy="574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30000"/>
                </a:lnSpc>
              </a:pPr>
              <a:r>
                <a:rPr lang="en-US" altLang="ko-KR" sz="3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57000">
                        <a:srgbClr val="006699"/>
                      </a:gs>
                      <a:gs pos="58000">
                        <a:schemeClr val="bg1"/>
                      </a:gs>
                    </a:gsLst>
                    <a:lin ang="5400000" scaled="0"/>
                  </a:gradFill>
                  <a:latin typeface="아리따-돋움4.0(OTF)-Bold" pitchFamily="18" charset="-127"/>
                  <a:ea typeface="아리따-돋움4.0(OTF)-Bold" pitchFamily="18" charset="-127"/>
                </a:rPr>
                <a:t>6</a:t>
              </a:r>
              <a:endParaRPr lang="ko-KR" altLang="en-US" sz="32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57000">
                      <a:srgbClr val="006699"/>
                    </a:gs>
                    <a:gs pos="58000">
                      <a:schemeClr val="bg1"/>
                    </a:gs>
                  </a:gsLst>
                  <a:lin ang="5400000" scaled="0"/>
                </a:gradFill>
                <a:latin typeface="아리따-돋움4.0(OTF)-Bold" pitchFamily="18" charset="-127"/>
                <a:ea typeface="아리따-돋움4.0(OTF)-Bold" pitchFamily="18" charset="-127"/>
              </a:endParaRPr>
            </a:p>
          </p:txBody>
        </p:sp>
      </p:grpSp>
      <p:sp>
        <p:nvSpPr>
          <p:cNvPr id="15" name="Rectangle 75"/>
          <p:cNvSpPr>
            <a:spLocks noChangeArrowheads="1"/>
          </p:cNvSpPr>
          <p:nvPr userDrawn="1"/>
        </p:nvSpPr>
        <p:spPr bwMode="auto">
          <a:xfrm>
            <a:off x="4951194" y="6613029"/>
            <a:ext cx="6923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- </a:t>
            </a:r>
            <a:fld id="{4E81BA3D-65FB-4B09-89EB-BF3511329DF3}" type="slidenum">
              <a:rPr kumimoji="1" lang="en-US" altLang="ko-KR" sz="900" b="0" i="0" u="none" strike="noStrike" cap="none" normalizeH="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ko-KR" altLang="ko-KR" sz="1800" b="0" i="0" u="none" strike="noStrike" cap="none" normalizeH="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4D4D4D"/>
              </a:solidFill>
              <a:effectLst/>
              <a:latin typeface="아리따-돋움(TTF)-SemiBold" panose="02020603020101020101" pitchFamily="18" charset="-127"/>
              <a:ea typeface="아리따-돋움(TTF)-SemiBold" panose="02020603020101020101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9408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장-교육 및 유지보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 userDrawn="1"/>
        </p:nvGrpSpPr>
        <p:grpSpPr>
          <a:xfrm>
            <a:off x="4754471" y="6620019"/>
            <a:ext cx="130868" cy="130868"/>
            <a:chOff x="3612584" y="5888518"/>
            <a:chExt cx="130868" cy="130868"/>
          </a:xfrm>
        </p:grpSpPr>
        <p:sp>
          <p:nvSpPr>
            <p:cNvPr id="13" name="타원 12"/>
            <p:cNvSpPr/>
            <p:nvPr/>
          </p:nvSpPr>
          <p:spPr>
            <a:xfrm>
              <a:off x="3612584" y="5888518"/>
              <a:ext cx="130868" cy="130868"/>
            </a:xfrm>
            <a:prstGeom prst="ellipse">
              <a:avLst/>
            </a:prstGeom>
            <a:solidFill>
              <a:srgbClr val="1FA1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1">
                      <a:alpha val="0"/>
                    </a:schemeClr>
                  </a:solidFill>
                </a:ln>
                <a:latin typeface="아리따-돋움(TTF)-Bold" panose="02020603020101020101" pitchFamily="18" charset="-127"/>
                <a:ea typeface="아리따-돋움(TTF)-Bold" panose="02020603020101020101" pitchFamily="18" charset="-127"/>
              </a:endParaRPr>
            </a:p>
          </p:txBody>
        </p:sp>
        <p:sp>
          <p:nvSpPr>
            <p:cNvPr id="14" name="Rectangle 75"/>
            <p:cNvSpPr>
              <a:spLocks noChangeArrowheads="1"/>
            </p:cNvSpPr>
            <p:nvPr/>
          </p:nvSpPr>
          <p:spPr bwMode="auto">
            <a:xfrm>
              <a:off x="3652370" y="5892396"/>
              <a:ext cx="51296" cy="1231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en-US" altLang="ko-KR" sz="800" b="0" i="0" u="none" strike="noStrike" cap="none" normalizeH="0" baseline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chemeClr val="bg1"/>
                  </a:solidFill>
                  <a:effectLst/>
                  <a:latin typeface="아리따-돋움(TTF)-Bold" panose="02020603020101020101" pitchFamily="18" charset="-127"/>
                  <a:ea typeface="아리따-돋움(TTF)-Bold" panose="02020603020101020101" pitchFamily="18" charset="-127"/>
                  <a:cs typeface="굴림" pitchFamily="50" charset="-127"/>
                </a:rPr>
                <a:t>6</a:t>
              </a:r>
              <a:endParaRPr kumimoji="1" lang="ko-KR" altLang="ko-KR" sz="16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effectLst/>
                <a:latin typeface="아리따-돋움(TTF)-Bold" panose="02020603020101020101" pitchFamily="18" charset="-127"/>
                <a:ea typeface="아리따-돋움(TTF)-Bold" panose="02020603020101020101" pitchFamily="18" charset="-127"/>
                <a:cs typeface="굴림" pitchFamily="50" charset="-127"/>
              </a:endParaRPr>
            </a:p>
          </p:txBody>
        </p:sp>
      </p:grpSp>
      <p:pic>
        <p:nvPicPr>
          <p:cNvPr id="30" name="그림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377" y="6630485"/>
            <a:ext cx="1202293" cy="118156"/>
          </a:xfrm>
          <a:prstGeom prst="rect">
            <a:avLst/>
          </a:prstGeom>
        </p:spPr>
      </p:pic>
      <p:pic>
        <p:nvPicPr>
          <p:cNvPr id="31" name="그림 3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7265" y="6607767"/>
            <a:ext cx="904885" cy="147857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507" r="29443"/>
          <a:stretch/>
        </p:blipFill>
        <p:spPr>
          <a:xfrm>
            <a:off x="8405526" y="0"/>
            <a:ext cx="1498887" cy="1136380"/>
          </a:xfrm>
          <a:prstGeom prst="rect">
            <a:avLst/>
          </a:prstGeom>
        </p:spPr>
      </p:pic>
      <p:sp>
        <p:nvSpPr>
          <p:cNvPr id="19" name="직사각형 18"/>
          <p:cNvSpPr/>
          <p:nvPr userDrawn="1"/>
        </p:nvSpPr>
        <p:spPr>
          <a:xfrm>
            <a:off x="8405526" y="0"/>
            <a:ext cx="1498887" cy="1136380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/>
          <p:cNvSpPr/>
          <p:nvPr userDrawn="1"/>
        </p:nvSpPr>
        <p:spPr>
          <a:xfrm>
            <a:off x="322262" y="554865"/>
            <a:ext cx="9259888" cy="34241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" name="그룹 32"/>
          <p:cNvGrpSpPr/>
          <p:nvPr userDrawn="1"/>
        </p:nvGrpSpPr>
        <p:grpSpPr>
          <a:xfrm>
            <a:off x="8140869" y="225652"/>
            <a:ext cx="1323637" cy="574132"/>
            <a:chOff x="8190795" y="524162"/>
            <a:chExt cx="1323637" cy="574132"/>
          </a:xfrm>
        </p:grpSpPr>
        <p:sp>
          <p:nvSpPr>
            <p:cNvPr id="34" name="텍스트 개체 틀 17"/>
            <p:cNvSpPr txBox="1">
              <a:spLocks/>
            </p:cNvSpPr>
            <p:nvPr/>
          </p:nvSpPr>
          <p:spPr>
            <a:xfrm>
              <a:off x="8190795" y="627258"/>
              <a:ext cx="1048364" cy="2153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r" latinLnBrk="0">
                <a:lnSpc>
                  <a:spcPct val="130000"/>
                </a:lnSpc>
              </a:pPr>
              <a:r>
                <a:rPr kumimoji="1" lang="ko-KR" altLang="en-US" sz="1200" kern="1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6699"/>
                  </a:solidFill>
                  <a:latin typeface="아리따-돋움4.0(OTF)-Bold" pitchFamily="18" charset="-127"/>
                  <a:ea typeface="아리따-돋움4.0(OTF)-Bold" pitchFamily="18" charset="-127"/>
                  <a:cs typeface="굴림" pitchFamily="50" charset="-127"/>
                </a:rPr>
                <a:t>교육 및 유지보수</a:t>
              </a:r>
            </a:p>
          </p:txBody>
        </p:sp>
        <p:sp>
          <p:nvSpPr>
            <p:cNvPr id="35" name="텍스트 개체 틀 17"/>
            <p:cNvSpPr txBox="1">
              <a:spLocks/>
            </p:cNvSpPr>
            <p:nvPr/>
          </p:nvSpPr>
          <p:spPr>
            <a:xfrm>
              <a:off x="9277188" y="524162"/>
              <a:ext cx="237244" cy="5741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8CBF2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2700" dir="5400000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 anchor="ctr" anchorCtr="0">
              <a:spAutoFit/>
            </a:bodyPr>
            <a:lstStyle>
              <a:lvl1pPr marL="0" indent="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None/>
                <a:defRPr kumimoji="1" lang="ko-KR" altLang="en-US" sz="1400" kern="1200" dirty="0">
                  <a:solidFill>
                    <a:schemeClr val="accent1">
                      <a:lumMod val="75000"/>
                    </a:schemeClr>
                  </a:solidFill>
                  <a:latin typeface="나눔고딕 ExtraBold" pitchFamily="50" charset="-127"/>
                  <a:ea typeface="나눔고딕 ExtraBold" pitchFamily="50" charset="-127"/>
                  <a:cs typeface="굴림" pitchFamily="50" charset="-127"/>
                </a:defRPr>
              </a:lvl1pPr>
              <a:lvl2pPr marL="742950" indent="-28575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–"/>
                <a:defRPr lang="ko-KR" altLang="en-US" sz="1800" kern="1200" smtClean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»"/>
                <a:defRPr lang="ko-KR" altLang="en-US"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>
                <a:lnSpc>
                  <a:spcPct val="130000"/>
                </a:lnSpc>
              </a:pPr>
              <a:r>
                <a:rPr lang="en-US" altLang="ko-KR" sz="32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gradFill>
                    <a:gsLst>
                      <a:gs pos="57000">
                        <a:srgbClr val="006699"/>
                      </a:gs>
                      <a:gs pos="58000">
                        <a:schemeClr val="bg1"/>
                      </a:gs>
                    </a:gsLst>
                    <a:lin ang="5400000" scaled="0"/>
                  </a:gradFill>
                  <a:latin typeface="아리따-돋움4.0(OTF)-Bold" pitchFamily="18" charset="-127"/>
                  <a:ea typeface="아리따-돋움4.0(OTF)-Bold" pitchFamily="18" charset="-127"/>
                </a:rPr>
                <a:t>7</a:t>
              </a:r>
              <a:endParaRPr lang="ko-KR" altLang="en-US" sz="320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57000">
                      <a:srgbClr val="006699"/>
                    </a:gs>
                    <a:gs pos="58000">
                      <a:schemeClr val="bg1"/>
                    </a:gs>
                  </a:gsLst>
                  <a:lin ang="5400000" scaled="0"/>
                </a:gradFill>
                <a:latin typeface="아리따-돋움4.0(OTF)-Bold" pitchFamily="18" charset="-127"/>
                <a:ea typeface="아리따-돋움4.0(OTF)-Bold" pitchFamily="18" charset="-127"/>
              </a:endParaRPr>
            </a:p>
          </p:txBody>
        </p:sp>
      </p:grpSp>
      <p:sp>
        <p:nvSpPr>
          <p:cNvPr id="15" name="Rectangle 75"/>
          <p:cNvSpPr>
            <a:spLocks noChangeArrowheads="1"/>
          </p:cNvSpPr>
          <p:nvPr userDrawn="1"/>
        </p:nvSpPr>
        <p:spPr bwMode="auto">
          <a:xfrm>
            <a:off x="4951194" y="6613029"/>
            <a:ext cx="692372" cy="1384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ko-KR" sz="900" b="0" i="0" u="none" strike="noStrike" cap="none" normalizeH="0" baseline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t>- </a:t>
            </a:r>
            <a:fld id="{4E81BA3D-65FB-4B09-89EB-BF3511329DF3}" type="slidenum">
              <a:rPr kumimoji="1" lang="en-US" altLang="ko-KR" sz="900" b="0" i="0" u="none" strike="noStrike" cap="none" normalizeH="0" baseline="0" smtClean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4D4D4D"/>
                </a:solidFill>
                <a:effectLst/>
                <a:latin typeface="아리따-돋움(TTF)-SemiBold" panose="02020603020101020101" pitchFamily="18" charset="-127"/>
                <a:ea typeface="아리따-돋움(TTF)-SemiBold" panose="02020603020101020101" pitchFamily="18" charset="-127"/>
                <a:cs typeface="굴림" pitchFamily="50" charset="-127"/>
              </a:rPr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ko-KR" altLang="ko-KR" sz="1800" b="0" i="0" u="none" strike="noStrike" cap="none" normalizeH="0" baseline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4D4D4D"/>
              </a:solidFill>
              <a:effectLst/>
              <a:latin typeface="아리따-돋움(TTF)-SemiBold" panose="02020603020101020101" pitchFamily="18" charset="-127"/>
              <a:ea typeface="아리따-돋움(TTF)-SemiBold" panose="02020603020101020101" pitchFamily="18" charset="-127"/>
              <a:cs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91543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슬라이드 번호 개체 틀 28"/>
          <p:cNvSpPr>
            <a:spLocks noGrp="1"/>
          </p:cNvSpPr>
          <p:nvPr userDrawn="1">
            <p:ph type="sldNum" sz="quarter" idx="12"/>
            <p:custDataLst>
              <p:tags r:id="rId1"/>
            </p:custDataLst>
          </p:nvPr>
        </p:nvSpPr>
        <p:spPr bwMode="gray">
          <a:xfrm>
            <a:off x="4640935" y="6525345"/>
            <a:ext cx="622544" cy="18891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fld id="{33936384-6829-4736-91C5-B78CFB86700B}" type="slidenum">
              <a:rPr lang="ko-KR" altLang="en-US" smtClean="0">
                <a:solidFill>
                  <a:prstClr val="black">
                    <a:tint val="75000"/>
                  </a:prstClr>
                </a:solidFill>
                <a:sym typeface="아리따-돋움(OTF)-Medium"/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  <a:sym typeface="아리따-돋움(OTF)-Medium"/>
            </a:endParaRPr>
          </a:p>
        </p:txBody>
      </p:sp>
      <p:cxnSp>
        <p:nvCxnSpPr>
          <p:cNvPr id="30" name="직선 연결선 29"/>
          <p:cNvCxnSpPr/>
          <p:nvPr userDrawn="1"/>
        </p:nvCxnSpPr>
        <p:spPr>
          <a:xfrm>
            <a:off x="592490" y="1125183"/>
            <a:ext cx="5903710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313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pos="353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직선 연결선 19"/>
          <p:cNvCxnSpPr/>
          <p:nvPr userDrawn="1"/>
        </p:nvCxnSpPr>
        <p:spPr>
          <a:xfrm>
            <a:off x="236438" y="0"/>
            <a:ext cx="9431537" cy="0"/>
          </a:xfrm>
          <a:prstGeom prst="line">
            <a:avLst/>
          </a:prstGeom>
          <a:ln w="57150">
            <a:solidFill>
              <a:srgbClr val="4F8A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슬라이드 번호 개체 틀 28"/>
          <p:cNvSpPr>
            <a:spLocks noGrp="1"/>
          </p:cNvSpPr>
          <p:nvPr userDrawn="1">
            <p:ph type="sldNum" sz="quarter" idx="12"/>
            <p:custDataLst>
              <p:tags r:id="rId1"/>
            </p:custDataLst>
          </p:nvPr>
        </p:nvSpPr>
        <p:spPr bwMode="gray">
          <a:xfrm>
            <a:off x="4640935" y="6525345"/>
            <a:ext cx="622544" cy="18891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아리따-돋움(TTF)-Medium" panose="02020603020101020101" pitchFamily="18" charset="-127"/>
                <a:ea typeface="아리따-돋움(TTF)-Medium" panose="02020603020101020101" pitchFamily="18" charset="-127"/>
              </a:defRPr>
            </a:lvl1pPr>
          </a:lstStyle>
          <a:p>
            <a:fld id="{33936384-6829-4736-91C5-B78CFB86700B}" type="slidenum">
              <a:rPr lang="ko-KR" altLang="en-US" smtClean="0">
                <a:solidFill>
                  <a:prstClr val="black">
                    <a:tint val="75000"/>
                  </a:prstClr>
                </a:solidFill>
                <a:sym typeface="아리따-돋움(OTF)-Medium"/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  <a:sym typeface="아리따-돋움(OTF)-Medium"/>
            </a:endParaRPr>
          </a:p>
        </p:txBody>
      </p:sp>
      <p:cxnSp>
        <p:nvCxnSpPr>
          <p:cNvPr id="22" name="직선 연결선 21"/>
          <p:cNvCxnSpPr/>
          <p:nvPr userDrawn="1"/>
        </p:nvCxnSpPr>
        <p:spPr>
          <a:xfrm>
            <a:off x="236500" y="0"/>
            <a:ext cx="9431414" cy="0"/>
          </a:xfrm>
          <a:prstGeom prst="line">
            <a:avLst/>
          </a:prstGeom>
          <a:ln w="5715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/>
          <p:nvPr userDrawn="1"/>
        </p:nvCxnSpPr>
        <p:spPr>
          <a:xfrm>
            <a:off x="200440" y="6525344"/>
            <a:ext cx="9503533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utoShape 3"/>
          <p:cNvCxnSpPr>
            <a:cxnSpLocks noChangeShapeType="1"/>
          </p:cNvCxnSpPr>
          <p:nvPr userDrawn="1"/>
        </p:nvCxnSpPr>
        <p:spPr bwMode="auto">
          <a:xfrm flipV="1">
            <a:off x="239973" y="563439"/>
            <a:ext cx="9393345" cy="4652"/>
          </a:xfrm>
          <a:prstGeom prst="straightConnector1">
            <a:avLst/>
          </a:prstGeom>
          <a:noFill/>
          <a:ln w="19050">
            <a:solidFill>
              <a:schemeClr val="bg1">
                <a:lumMod val="50000"/>
              </a:scheme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" name="Rectangle 29"/>
          <p:cNvSpPr>
            <a:spLocks noChangeArrowheads="1"/>
          </p:cNvSpPr>
          <p:nvPr userDrawn="1"/>
        </p:nvSpPr>
        <p:spPr bwMode="auto">
          <a:xfrm>
            <a:off x="1" y="43934"/>
            <a:ext cx="1847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5" tIns="45713" rIns="91425" bIns="45713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sz="1800" dirty="0"/>
          </a:p>
        </p:txBody>
      </p:sp>
      <p:sp>
        <p:nvSpPr>
          <p:cNvPr id="49" name="Rectangle 41"/>
          <p:cNvSpPr>
            <a:spLocks noChangeArrowheads="1"/>
          </p:cNvSpPr>
          <p:nvPr userDrawn="1"/>
        </p:nvSpPr>
        <p:spPr bwMode="auto">
          <a:xfrm>
            <a:off x="0" y="533400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/>
          <a:p>
            <a:endParaRPr lang="ko-KR" altLang="en-US" sz="1800" dirty="0"/>
          </a:p>
        </p:txBody>
      </p:sp>
      <p:sp>
        <p:nvSpPr>
          <p:cNvPr id="54" name="Rectangle 55"/>
          <p:cNvSpPr>
            <a:spLocks noChangeArrowheads="1"/>
          </p:cNvSpPr>
          <p:nvPr userDrawn="1"/>
        </p:nvSpPr>
        <p:spPr bwMode="auto">
          <a:xfrm>
            <a:off x="1" y="7217718"/>
            <a:ext cx="18470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25" tIns="45713" rIns="91425" bIns="45713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2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217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001" name="ZENIEL_MARK"/>
          <p:cNvSpPr txBox="1"/>
          <p:nvPr/>
        </p:nvSpPr>
        <p:spPr>
          <a:xfrm>
            <a:off x="237744" y="6519672"/>
            <a:ext cx="2743200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1100" b="1" dirty="0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제니엘</a:t>
            </a:r>
            <a:r>
              <a:rPr lang="ko-KR" altLang="en-US" sz="800" b="0" spc="120" dirty="0">
                <a:solidFill>
                  <a:srgbClr val="8A949F"/>
                </a:solidFill>
                <a:latin typeface="맑은 고딕"/>
                <a:ea typeface="맑은 고딕"/>
                <a:cs typeface="맑은 고딕"/>
              </a:rPr>
              <a:t>  ZENIEL</a:t>
            </a:r>
          </a:p>
        </p:txBody>
      </p:sp>
      <p:sp>
        <p:nvSpPr>
          <p:cNvPr id="9002" name="ZENIEL_DOCTITLE"/>
          <p:cNvSpPr txBox="1"/>
          <p:nvPr/>
        </p:nvSpPr>
        <p:spPr>
          <a:xfrm>
            <a:off x="5486400" y="6519672"/>
            <a:ext cx="4178808" cy="237744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lang="ko-KR" altLang="en-US" sz="800" b="0" dirty="0">
                <a:solidFill>
                  <a:srgbClr val="8A949F"/>
                </a:solidFill>
                <a:latin typeface="맑은 고딕"/>
                <a:ea typeface="맑은 고딕"/>
                <a:cs typeface="맑은 고딕"/>
              </a:rPr>
              <a:t>현장 CCTV 설치 장소(위치) 조사</a:t>
            </a:r>
          </a:p>
        </p:txBody>
      </p:sp>
    </p:spTree>
    <p:extLst>
      <p:ext uri="{BB962C8B-B14F-4D97-AF65-F5344CB8AC3E}">
        <p14:creationId xmlns:p14="http://schemas.microsoft.com/office/powerpoint/2010/main" val="679491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orient="horz" pos="11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066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84" r:id="rId3"/>
    <p:sldLayoutId id="2147483693" r:id="rId4"/>
    <p:sldLayoutId id="2147483691" r:id="rId5"/>
    <p:sldLayoutId id="2147483687" r:id="rId6"/>
    <p:sldLayoutId id="2147483688" r:id="rId7"/>
    <p:sldLayoutId id="2147483689" r:id="rId8"/>
    <p:sldLayoutId id="2147483690" r:id="rId9"/>
    <p:sldLayoutId id="2147483692" r:id="rId10"/>
    <p:sldLayoutId id="2147483695" r:id="rId11"/>
    <p:sldLayoutId id="2147483696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tags" Target="../tags/tag4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microsoft.com/office/2007/relationships/hdphoto" Target="../media/hdphoto1.wdp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tags" Target="../tags/tag6.xml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3.xml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904412" cy="68580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40680"/>
            <a:ext cx="9904412" cy="1417320"/>
          </a:xfrm>
          <a:prstGeom prst="rect">
            <a:avLst/>
          </a:prstGeom>
          <a:solidFill>
            <a:srgbClr val="0A1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58368"/>
            <a:ext cx="457200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제니엘</a:t>
            </a:r>
            <a:r>
              <a:rPr sz="1000" b="0" spc="200">
                <a:solidFill>
                  <a:srgbClr val="7E9CBD"/>
                </a:solidFill>
                <a:latin typeface="맑은 고딕"/>
                <a:ea typeface="맑은 고딕"/>
                <a:cs typeface="맑은 고딕"/>
              </a:rPr>
              <a:t>   ZENIEL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8138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spc="100">
                <a:solidFill>
                  <a:srgbClr val="E8720C"/>
                </a:solidFill>
                <a:latin typeface="맑은 고딕"/>
                <a:ea typeface="맑은 고딕"/>
                <a:cs typeface="맑은 고딕"/>
              </a:rPr>
              <a:t>현장 실사 보고서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현장 CCTV 설치 장소(위치) 조사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8E8"/>
                </a:solidFill>
                <a:latin typeface="맑은 고딕"/>
                <a:ea typeface="맑은 고딕"/>
                <a:cs typeface="맑은 고딕"/>
              </a:rPr>
              <a:t>포장재창고(1·2층)·도크장 CCTV 8대 설치 위치 선정 결과 및 설치 검토사항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9788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spc="150">
                <a:solidFill>
                  <a:srgbClr val="7E9CBD"/>
                </a:solidFill>
                <a:latin typeface="맑은 고딕"/>
                <a:ea typeface="맑은 고딕"/>
                <a:cs typeface="맑은 고딕"/>
              </a:rPr>
              <a:t>대 상 현 장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대전공장 포장재창고 1·2층 / 도크장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89788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spc="150">
                <a:solidFill>
                  <a:srgbClr val="7E9CBD"/>
                </a:solidFill>
                <a:latin typeface="맑은 고딕"/>
                <a:ea typeface="맑은 고딕"/>
                <a:cs typeface="맑은 고딕"/>
              </a:rPr>
              <a:t>조 사 일 자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2026. 08. 18.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5897880"/>
            <a:ext cx="28346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00" b="0" spc="150">
                <a:solidFill>
                  <a:srgbClr val="7E9CBD"/>
                </a:solidFill>
                <a:latin typeface="맑은 고딕"/>
                <a:ea typeface="맑은 고딕"/>
                <a:cs typeface="맑은 고딕"/>
              </a:rPr>
              <a:t>작    성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제니엘 (ZENIEL)</a:t>
            </a:r>
          </a:p>
        </p:txBody>
      </p:sp>
    </p:spTree>
    <p:extLst>
      <p:ext uri="{BB962C8B-B14F-4D97-AF65-F5344CB8AC3E}">
        <p14:creationId xmlns:p14="http://schemas.microsoft.com/office/powerpoint/2010/main" val="32949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7248-23E4-7292-D3EA-00787F7AD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그림 51" descr="텍스트, 평면도, 도표, 스케치이(가) 표시된 사진">
            <a:extLst>
              <a:ext uri="{FF2B5EF4-FFF2-40B4-BE49-F238E27FC236}">
                <a16:creationId xmlns:a16="http://schemas.microsoft.com/office/drawing/2014/main" id="{A7BD07B6-D2E2-D67A-C9F7-2785675890F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250" b="11142"/>
          <a:stretch/>
        </p:blipFill>
        <p:spPr>
          <a:xfrm rot="5400000">
            <a:off x="3085666" y="552427"/>
            <a:ext cx="3733078" cy="5564843"/>
          </a:xfrm>
          <a:prstGeom prst="rect">
            <a:avLst/>
          </a:prstGeom>
        </p:spPr>
      </p:pic>
      <p:sp>
        <p:nvSpPr>
          <p:cNvPr id="7" name="제목 2">
            <a:extLst>
              <a:ext uri="{FF2B5EF4-FFF2-40B4-BE49-F238E27FC236}">
                <a16:creationId xmlns:a16="http://schemas.microsoft.com/office/drawing/2014/main" id="{51FCE980-1544-8A88-0C3D-1036A6EDCA36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37744" y="146304"/>
            <a:ext cx="9428924" cy="384048"/>
          </a:xfrm>
          <a:prstGeom prst="rect">
            <a:avLst/>
          </a:prstGeom>
        </p:spPr>
        <p:txBody>
          <a:bodyPr vert="horz" lIns="91425" tIns="45713" rIns="91425" bIns="45713" rtlCol="0" anchor="ctr">
            <a:noAutofit/>
          </a:bodyPr>
          <a:lstStyle/>
          <a:p>
            <a:pPr lvl="0">
              <a:defRPr/>
            </a:pPr>
            <a:r>
              <a:rPr lang="ko-KR" altLang="en-US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포장재 창고 </a:t>
            </a:r>
            <a:r>
              <a:rPr lang="en-US" altLang="ko-KR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(1</a:t>
            </a:r>
            <a:r>
              <a:rPr lang="ko-KR" altLang="en-US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층</a:t>
            </a:r>
            <a:r>
              <a:rPr lang="en-US" altLang="ko-KR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), </a:t>
            </a:r>
            <a:r>
              <a:rPr lang="ko-KR" altLang="en-US" sz="1900" b="1" spc="-150" dirty="0" err="1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도크장</a:t>
            </a:r>
            <a:r>
              <a:rPr lang="ko-KR" altLang="en-US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  </a:t>
            </a:r>
            <a:r>
              <a:rPr lang="en-US" altLang="ko-KR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- </a:t>
            </a:r>
            <a:r>
              <a:rPr lang="en-US" altLang="ko-KR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7</a:t>
            </a:r>
            <a:r>
              <a:rPr lang="ko-KR" altLang="en-US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대</a:t>
            </a:r>
          </a:p>
        </p:txBody>
      </p:sp>
      <p:sp>
        <p:nvSpPr>
          <p:cNvPr id="42" name="모서리가 둥근 직사각형 66">
            <a:extLst>
              <a:ext uri="{FF2B5EF4-FFF2-40B4-BE49-F238E27FC236}">
                <a16:creationId xmlns:a16="http://schemas.microsoft.com/office/drawing/2014/main" id="{D843F7C1-798C-496D-A9C9-250F35C60DBF}"/>
              </a:ext>
            </a:extLst>
          </p:cNvPr>
          <p:cNvSpPr/>
          <p:nvPr/>
        </p:nvSpPr>
        <p:spPr>
          <a:xfrm>
            <a:off x="6473107" y="1007155"/>
            <a:ext cx="505397" cy="19757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 err="1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원료동</a:t>
            </a:r>
            <a:endParaRPr lang="en-US" altLang="ko-KR" sz="1000" dirty="0">
              <a:solidFill>
                <a:srgbClr val="0000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8CF6371-BC8B-40A8-A075-E70D70626084}"/>
              </a:ext>
            </a:extLst>
          </p:cNvPr>
          <p:cNvSpPr/>
          <p:nvPr/>
        </p:nvSpPr>
        <p:spPr>
          <a:xfrm>
            <a:off x="6108700" y="825500"/>
            <a:ext cx="1234213" cy="51107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0" name="모서리가 둥근 직사각형 66">
            <a:extLst>
              <a:ext uri="{FF2B5EF4-FFF2-40B4-BE49-F238E27FC236}">
                <a16:creationId xmlns:a16="http://schemas.microsoft.com/office/drawing/2014/main" id="{2E00347A-BB3B-4C4E-A2E4-0C8BE8AC7EC6}"/>
              </a:ext>
            </a:extLst>
          </p:cNvPr>
          <p:cNvSpPr/>
          <p:nvPr/>
        </p:nvSpPr>
        <p:spPr>
          <a:xfrm>
            <a:off x="4353665" y="1704805"/>
            <a:ext cx="505397" cy="197571"/>
          </a:xfrm>
          <a:prstGeom prst="roundRect">
            <a:avLst/>
          </a:prstGeom>
          <a:solidFill>
            <a:srgbClr val="EED1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도크장</a:t>
            </a:r>
            <a:endParaRPr lang="en-US" altLang="ko-KR" sz="1000" dirty="0">
              <a:solidFill>
                <a:srgbClr val="0000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4" name="그림 53">
            <a:extLst>
              <a:ext uri="{FF2B5EF4-FFF2-40B4-BE49-F238E27FC236}">
                <a16:creationId xmlns:a16="http://schemas.microsoft.com/office/drawing/2014/main" id="{323077BA-D9DC-4616-955B-EF3A00A327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90" b="89535" l="10000" r="92581">
                        <a14:foregroundMark x1="90968" y1="53876" x2="90968" y2="53876"/>
                        <a14:foregroundMark x1="92581" y1="53876" x2="92581" y2="538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469493" y="4670788"/>
            <a:ext cx="308975" cy="263695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E23D92A-4BEC-4835-BBE0-D4EEC54F246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2778468" y="4155103"/>
            <a:ext cx="1386956" cy="647533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6A69362E-B71D-4537-8388-AB62990151E9}"/>
              </a:ext>
            </a:extLst>
          </p:cNvPr>
          <p:cNvCxnSpPr>
            <a:cxnSpLocks/>
            <a:stCxn id="54" idx="3"/>
          </p:cNvCxnSpPr>
          <p:nvPr/>
        </p:nvCxnSpPr>
        <p:spPr>
          <a:xfrm flipV="1">
            <a:off x="2778468" y="4731056"/>
            <a:ext cx="1464056" cy="71580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그림 29">
            <a:extLst>
              <a:ext uri="{FF2B5EF4-FFF2-40B4-BE49-F238E27FC236}">
                <a16:creationId xmlns:a16="http://schemas.microsoft.com/office/drawing/2014/main" id="{033B8B3C-D0E5-4ED1-A49C-BC2F231E20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0635" y="3051570"/>
            <a:ext cx="1114048" cy="1118175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4032200C-3C03-4B65-896B-71ED93EFC14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234" y="4189507"/>
            <a:ext cx="1112449" cy="993219"/>
          </a:xfrm>
          <a:prstGeom prst="rect">
            <a:avLst/>
          </a:prstGeom>
        </p:spPr>
      </p:pic>
      <p:sp>
        <p:nvSpPr>
          <p:cNvPr id="68" name="모서리가 둥근 직사각형 66">
            <a:extLst>
              <a:ext uri="{FF2B5EF4-FFF2-40B4-BE49-F238E27FC236}">
                <a16:creationId xmlns:a16="http://schemas.microsoft.com/office/drawing/2014/main" id="{9AB30AD2-8E36-4792-8F86-FB70DF98BF77}"/>
              </a:ext>
            </a:extLst>
          </p:cNvPr>
          <p:cNvSpPr/>
          <p:nvPr/>
        </p:nvSpPr>
        <p:spPr>
          <a:xfrm>
            <a:off x="128443" y="5227665"/>
            <a:ext cx="1995288" cy="228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휴게실 외벽 상단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50D17BE-2CC2-4529-A534-004AED419AB6}"/>
              </a:ext>
            </a:extLst>
          </p:cNvPr>
          <p:cNvSpPr/>
          <p:nvPr/>
        </p:nvSpPr>
        <p:spPr>
          <a:xfrm>
            <a:off x="1399134" y="4467110"/>
            <a:ext cx="76200" cy="139917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6" name="말풍선: 사각형 75">
            <a:extLst>
              <a:ext uri="{FF2B5EF4-FFF2-40B4-BE49-F238E27FC236}">
                <a16:creationId xmlns:a16="http://schemas.microsoft.com/office/drawing/2014/main" id="{BBA9645A-2F69-46EF-8F09-1C09A921AB96}"/>
              </a:ext>
            </a:extLst>
          </p:cNvPr>
          <p:cNvSpPr/>
          <p:nvPr/>
        </p:nvSpPr>
        <p:spPr>
          <a:xfrm>
            <a:off x="585073" y="3031808"/>
            <a:ext cx="1177341" cy="2407920"/>
          </a:xfrm>
          <a:prstGeom prst="wedgeRectCallout">
            <a:avLst>
              <a:gd name="adj1" fmla="val 108126"/>
              <a:gd name="adj2" fmla="val 23767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7" name="직선 연결선 76">
            <a:extLst>
              <a:ext uri="{FF2B5EF4-FFF2-40B4-BE49-F238E27FC236}">
                <a16:creationId xmlns:a16="http://schemas.microsoft.com/office/drawing/2014/main" id="{8B99F7F4-956D-4993-A684-6799FDC5C805}"/>
              </a:ext>
            </a:extLst>
          </p:cNvPr>
          <p:cNvCxnSpPr>
            <a:cxnSpLocks/>
            <a:endCxn id="111" idx="3"/>
          </p:cNvCxnSpPr>
          <p:nvPr/>
        </p:nvCxnSpPr>
        <p:spPr>
          <a:xfrm>
            <a:off x="5552091" y="4190157"/>
            <a:ext cx="469297" cy="537215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07C010D3-8F3F-4D78-B5E2-E9EA906AF0C0}"/>
              </a:ext>
            </a:extLst>
          </p:cNvPr>
          <p:cNvCxnSpPr>
            <a:cxnSpLocks/>
          </p:cNvCxnSpPr>
          <p:nvPr/>
        </p:nvCxnSpPr>
        <p:spPr>
          <a:xfrm>
            <a:off x="4952206" y="4670622"/>
            <a:ext cx="1025544" cy="86198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BDE099BB-6211-4DB0-8795-D1556EAF33F5}"/>
              </a:ext>
            </a:extLst>
          </p:cNvPr>
          <p:cNvCxnSpPr>
            <a:cxnSpLocks/>
            <a:endCxn id="108" idx="3"/>
          </p:cNvCxnSpPr>
          <p:nvPr/>
        </p:nvCxnSpPr>
        <p:spPr>
          <a:xfrm flipH="1">
            <a:off x="5128639" y="4062413"/>
            <a:ext cx="278814" cy="629532"/>
          </a:xfrm>
          <a:prstGeom prst="line">
            <a:avLst/>
          </a:prstGeom>
          <a:ln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0446AAB3-665D-4D96-9B9A-E3E829A26296}"/>
              </a:ext>
            </a:extLst>
          </p:cNvPr>
          <p:cNvCxnSpPr>
            <a:cxnSpLocks/>
          </p:cNvCxnSpPr>
          <p:nvPr/>
        </p:nvCxnSpPr>
        <p:spPr>
          <a:xfrm flipH="1" flipV="1">
            <a:off x="5128411" y="4691842"/>
            <a:ext cx="849339" cy="17630"/>
          </a:xfrm>
          <a:prstGeom prst="line">
            <a:avLst/>
          </a:prstGeom>
          <a:ln>
            <a:solidFill>
              <a:srgbClr val="FF99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그림 61">
            <a:extLst>
              <a:ext uri="{FF2B5EF4-FFF2-40B4-BE49-F238E27FC236}">
                <a16:creationId xmlns:a16="http://schemas.microsoft.com/office/drawing/2014/main" id="{BA0EB0B8-9482-4136-A8D6-337A93122FA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07453" y="5311777"/>
            <a:ext cx="1237187" cy="1114234"/>
          </a:xfrm>
          <a:prstGeom prst="rect">
            <a:avLst/>
          </a:prstGeom>
        </p:spPr>
      </p:pic>
      <p:pic>
        <p:nvPicPr>
          <p:cNvPr id="64" name="그림 63">
            <a:extLst>
              <a:ext uri="{FF2B5EF4-FFF2-40B4-BE49-F238E27FC236}">
                <a16:creationId xmlns:a16="http://schemas.microsoft.com/office/drawing/2014/main" id="{13E142F5-1B76-4021-AE73-B52989F343F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4531" y="5311777"/>
            <a:ext cx="1250407" cy="962491"/>
          </a:xfrm>
          <a:prstGeom prst="rect">
            <a:avLst/>
          </a:prstGeom>
        </p:spPr>
      </p:pic>
      <p:sp>
        <p:nvSpPr>
          <p:cNvPr id="90" name="타원 89">
            <a:extLst>
              <a:ext uri="{FF2B5EF4-FFF2-40B4-BE49-F238E27FC236}">
                <a16:creationId xmlns:a16="http://schemas.microsoft.com/office/drawing/2014/main" id="{5B8BC4F2-536D-4E43-AC5E-97C66DEE5C3F}"/>
              </a:ext>
            </a:extLst>
          </p:cNvPr>
          <p:cNvSpPr/>
          <p:nvPr/>
        </p:nvSpPr>
        <p:spPr>
          <a:xfrm>
            <a:off x="7688071" y="5923439"/>
            <a:ext cx="76200" cy="139917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5" name="모서리가 둥근 직사각형 66">
            <a:extLst>
              <a:ext uri="{FF2B5EF4-FFF2-40B4-BE49-F238E27FC236}">
                <a16:creationId xmlns:a16="http://schemas.microsoft.com/office/drawing/2014/main" id="{696F4DF6-4F8D-439C-B74C-10A8391D9082}"/>
              </a:ext>
            </a:extLst>
          </p:cNvPr>
          <p:cNvSpPr/>
          <p:nvPr/>
        </p:nvSpPr>
        <p:spPr>
          <a:xfrm>
            <a:off x="6515652" y="6274268"/>
            <a:ext cx="1554480" cy="187997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반사경 옆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6" name="그림 65">
            <a:extLst>
              <a:ext uri="{FF2B5EF4-FFF2-40B4-BE49-F238E27FC236}">
                <a16:creationId xmlns:a16="http://schemas.microsoft.com/office/drawing/2014/main" id="{33352AC7-6829-487C-A955-A1663488B77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85226" y="629306"/>
            <a:ext cx="1027207" cy="944834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FC9D5A8C-2BCC-4998-9479-0C0394B965A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31838" y="633241"/>
            <a:ext cx="1014634" cy="941353"/>
          </a:xfrm>
          <a:prstGeom prst="rect">
            <a:avLst/>
          </a:prstGeom>
        </p:spPr>
      </p:pic>
      <p:sp>
        <p:nvSpPr>
          <p:cNvPr id="97" name="타원 96">
            <a:extLst>
              <a:ext uri="{FF2B5EF4-FFF2-40B4-BE49-F238E27FC236}">
                <a16:creationId xmlns:a16="http://schemas.microsoft.com/office/drawing/2014/main" id="{A21EFEF0-24B5-4580-81DF-9EC8C87EE096}"/>
              </a:ext>
            </a:extLst>
          </p:cNvPr>
          <p:cNvSpPr/>
          <p:nvPr/>
        </p:nvSpPr>
        <p:spPr>
          <a:xfrm>
            <a:off x="2276657" y="867238"/>
            <a:ext cx="76200" cy="139917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8" name="모서리가 둥근 직사각형 66">
            <a:extLst>
              <a:ext uri="{FF2B5EF4-FFF2-40B4-BE49-F238E27FC236}">
                <a16:creationId xmlns:a16="http://schemas.microsoft.com/office/drawing/2014/main" id="{D8FB7031-8500-408F-B226-594304BDDAF4}"/>
              </a:ext>
            </a:extLst>
          </p:cNvPr>
          <p:cNvSpPr/>
          <p:nvPr/>
        </p:nvSpPr>
        <p:spPr>
          <a:xfrm>
            <a:off x="1290543" y="1535635"/>
            <a:ext cx="1554480" cy="228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 err="1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외주사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휴게실 앞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9" name="말풍선: 사각형 98">
            <a:extLst>
              <a:ext uri="{FF2B5EF4-FFF2-40B4-BE49-F238E27FC236}">
                <a16:creationId xmlns:a16="http://schemas.microsoft.com/office/drawing/2014/main" id="{FF666CA2-D561-4024-8E07-1EA8735FD17E}"/>
              </a:ext>
            </a:extLst>
          </p:cNvPr>
          <p:cNvSpPr/>
          <p:nvPr/>
        </p:nvSpPr>
        <p:spPr>
          <a:xfrm>
            <a:off x="1501294" y="608928"/>
            <a:ext cx="2149893" cy="1155307"/>
          </a:xfrm>
          <a:prstGeom prst="wedgeRectCallout">
            <a:avLst>
              <a:gd name="adj1" fmla="val 32684"/>
              <a:gd name="adj2" fmla="val 115886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0" name="말풍선: 사각형 99">
            <a:extLst>
              <a:ext uri="{FF2B5EF4-FFF2-40B4-BE49-F238E27FC236}">
                <a16:creationId xmlns:a16="http://schemas.microsoft.com/office/drawing/2014/main" id="{6008D386-DE5F-4101-9A54-44024F1E2333}"/>
              </a:ext>
            </a:extLst>
          </p:cNvPr>
          <p:cNvSpPr/>
          <p:nvPr/>
        </p:nvSpPr>
        <p:spPr>
          <a:xfrm>
            <a:off x="5375913" y="5291013"/>
            <a:ext cx="2564985" cy="1155307"/>
          </a:xfrm>
          <a:prstGeom prst="wedgeRectCallout">
            <a:avLst>
              <a:gd name="adj1" fmla="val -21511"/>
              <a:gd name="adj2" fmla="val -79236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66F8217B-0E8A-4F85-9163-2227797216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90" b="89535" l="10000" r="92581">
                        <a14:foregroundMark x1="90968" y1="53876" x2="90968" y2="53876"/>
                        <a14:foregroundMark x1="92581" y1="53876" x2="92581" y2="538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8346112">
            <a:off x="4883851" y="4685446"/>
            <a:ext cx="308975" cy="263695"/>
          </a:xfrm>
          <a:prstGeom prst="rect">
            <a:avLst/>
          </a:prstGeom>
        </p:spPr>
      </p:pic>
      <p:pic>
        <p:nvPicPr>
          <p:cNvPr id="111" name="그림 110">
            <a:extLst>
              <a:ext uri="{FF2B5EF4-FFF2-40B4-BE49-F238E27FC236}">
                <a16:creationId xmlns:a16="http://schemas.microsoft.com/office/drawing/2014/main" id="{9767D139-342E-4A1B-BB85-E9F7591B19A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90" b="89535" l="10000" r="92581">
                        <a14:foregroundMark x1="90968" y1="53876" x2="90968" y2="53876"/>
                        <a14:foregroundMark x1="92581" y1="53876" x2="92581" y2="538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3011992" flipV="1">
            <a:off x="5993673" y="4671808"/>
            <a:ext cx="277195" cy="277432"/>
          </a:xfrm>
          <a:prstGeom prst="rect">
            <a:avLst/>
          </a:prstGeom>
        </p:spPr>
      </p:pic>
      <p:pic>
        <p:nvPicPr>
          <p:cNvPr id="114" name="그림 113">
            <a:extLst>
              <a:ext uri="{FF2B5EF4-FFF2-40B4-BE49-F238E27FC236}">
                <a16:creationId xmlns:a16="http://schemas.microsoft.com/office/drawing/2014/main" id="{D14FEE15-7F7C-4AFD-99C7-E3F5CAA9E28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90" b="89535" l="10000" r="92581">
                        <a14:foregroundMark x1="90968" y1="53876" x2="90968" y2="53876"/>
                        <a14:foregroundMark x1="92581" y1="53876" x2="92581" y2="538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0516" flipV="1">
            <a:off x="7060050" y="3371877"/>
            <a:ext cx="347259" cy="283627"/>
          </a:xfrm>
          <a:prstGeom prst="rect">
            <a:avLst/>
          </a:prstGeom>
        </p:spPr>
      </p:pic>
      <p:pic>
        <p:nvPicPr>
          <p:cNvPr id="115" name="그림 114">
            <a:extLst>
              <a:ext uri="{FF2B5EF4-FFF2-40B4-BE49-F238E27FC236}">
                <a16:creationId xmlns:a16="http://schemas.microsoft.com/office/drawing/2014/main" id="{E2B41F7A-8BF4-4704-937E-3DC96B44704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90" b="89535" l="10000" r="92581">
                        <a14:foregroundMark x1="90968" y1="53876" x2="90968" y2="53876"/>
                        <a14:foregroundMark x1="92581" y1="53876" x2="92581" y2="538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0516" flipV="1">
            <a:off x="5499997" y="2689483"/>
            <a:ext cx="347259" cy="283627"/>
          </a:xfrm>
          <a:prstGeom prst="rect">
            <a:avLst/>
          </a:prstGeom>
        </p:spPr>
      </p:pic>
      <p:cxnSp>
        <p:nvCxnSpPr>
          <p:cNvPr id="117" name="직선 연결선 116">
            <a:extLst>
              <a:ext uri="{FF2B5EF4-FFF2-40B4-BE49-F238E27FC236}">
                <a16:creationId xmlns:a16="http://schemas.microsoft.com/office/drawing/2014/main" id="{3B66C54D-DE48-4CFD-8B25-BD7DA78CB1AE}"/>
              </a:ext>
            </a:extLst>
          </p:cNvPr>
          <p:cNvCxnSpPr>
            <a:cxnSpLocks/>
            <a:stCxn id="124" idx="3"/>
          </p:cNvCxnSpPr>
          <p:nvPr/>
        </p:nvCxnSpPr>
        <p:spPr>
          <a:xfrm flipV="1">
            <a:off x="3510496" y="2445641"/>
            <a:ext cx="1441709" cy="234218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직선 연결선 118">
            <a:extLst>
              <a:ext uri="{FF2B5EF4-FFF2-40B4-BE49-F238E27FC236}">
                <a16:creationId xmlns:a16="http://schemas.microsoft.com/office/drawing/2014/main" id="{DFA579E4-E7CF-49B6-A3C8-46BE0B95A6FC}"/>
              </a:ext>
            </a:extLst>
          </p:cNvPr>
          <p:cNvCxnSpPr>
            <a:cxnSpLocks/>
            <a:stCxn id="124" idx="3"/>
          </p:cNvCxnSpPr>
          <p:nvPr/>
        </p:nvCxnSpPr>
        <p:spPr>
          <a:xfrm>
            <a:off x="3510496" y="2679859"/>
            <a:ext cx="1441709" cy="215067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4" name="그림 123">
            <a:extLst>
              <a:ext uri="{FF2B5EF4-FFF2-40B4-BE49-F238E27FC236}">
                <a16:creationId xmlns:a16="http://schemas.microsoft.com/office/drawing/2014/main" id="{69F5046F-704C-45B0-92DB-1679521C95B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90" b="89535" l="10000" r="92581">
                        <a14:foregroundMark x1="90968" y1="53876" x2="90968" y2="53876"/>
                        <a14:foregroundMark x1="92581" y1="53876" x2="92581" y2="538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01521" y="2548011"/>
            <a:ext cx="308975" cy="263695"/>
          </a:xfrm>
          <a:prstGeom prst="rect">
            <a:avLst/>
          </a:prstGeom>
        </p:spPr>
      </p:pic>
      <p:pic>
        <p:nvPicPr>
          <p:cNvPr id="129" name="그림 128">
            <a:extLst>
              <a:ext uri="{FF2B5EF4-FFF2-40B4-BE49-F238E27FC236}">
                <a16:creationId xmlns:a16="http://schemas.microsoft.com/office/drawing/2014/main" id="{1DA573C7-1B55-46BB-94AC-971B08590DB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88615" y="3606800"/>
            <a:ext cx="1315312" cy="1323807"/>
          </a:xfrm>
          <a:prstGeom prst="rect">
            <a:avLst/>
          </a:prstGeom>
        </p:spPr>
      </p:pic>
      <p:pic>
        <p:nvPicPr>
          <p:cNvPr id="131" name="그림 130">
            <a:extLst>
              <a:ext uri="{FF2B5EF4-FFF2-40B4-BE49-F238E27FC236}">
                <a16:creationId xmlns:a16="http://schemas.microsoft.com/office/drawing/2014/main" id="{0B7D4526-B9AD-4EE9-9189-38F703F28FC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2518" y="1902376"/>
            <a:ext cx="1283847" cy="1156840"/>
          </a:xfrm>
          <a:prstGeom prst="rect">
            <a:avLst/>
          </a:prstGeom>
        </p:spPr>
      </p:pic>
      <p:pic>
        <p:nvPicPr>
          <p:cNvPr id="133" name="그림 132">
            <a:extLst>
              <a:ext uri="{FF2B5EF4-FFF2-40B4-BE49-F238E27FC236}">
                <a16:creationId xmlns:a16="http://schemas.microsoft.com/office/drawing/2014/main" id="{7B442EFF-5B0B-48BA-BF53-1E7FD13B4285}"/>
              </a:ext>
            </a:extLst>
          </p:cNvPr>
          <p:cNvPicPr>
            <a:picLocks noChangeAspect="1"/>
          </p:cNvPicPr>
          <p:nvPr/>
        </p:nvPicPr>
        <p:blipFill rotWithShape="1">
          <a:blip r:embed="rId16"/>
          <a:srcRect l="61143"/>
          <a:stretch/>
        </p:blipFill>
        <p:spPr>
          <a:xfrm>
            <a:off x="8801404" y="1902375"/>
            <a:ext cx="1028499" cy="1156840"/>
          </a:xfrm>
          <a:prstGeom prst="rect">
            <a:avLst/>
          </a:prstGeom>
        </p:spPr>
      </p:pic>
      <p:sp>
        <p:nvSpPr>
          <p:cNvPr id="134" name="모서리가 둥근 직사각형 66">
            <a:extLst>
              <a:ext uri="{FF2B5EF4-FFF2-40B4-BE49-F238E27FC236}">
                <a16:creationId xmlns:a16="http://schemas.microsoft.com/office/drawing/2014/main" id="{5B5845A3-8544-4330-B045-9D55F3F3D5EE}"/>
              </a:ext>
            </a:extLst>
          </p:cNvPr>
          <p:cNvSpPr/>
          <p:nvPr/>
        </p:nvSpPr>
        <p:spPr>
          <a:xfrm>
            <a:off x="8877605" y="3051570"/>
            <a:ext cx="883469" cy="228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3Z-06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옆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기둥 근처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36" name="그림 135">
            <a:extLst>
              <a:ext uri="{FF2B5EF4-FFF2-40B4-BE49-F238E27FC236}">
                <a16:creationId xmlns:a16="http://schemas.microsoft.com/office/drawing/2014/main" id="{6408DDAC-099F-4FA7-88BE-25EAC96E533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817799" y="3610871"/>
            <a:ext cx="1047315" cy="1323806"/>
          </a:xfrm>
          <a:prstGeom prst="rect">
            <a:avLst/>
          </a:prstGeom>
        </p:spPr>
      </p:pic>
      <p:sp>
        <p:nvSpPr>
          <p:cNvPr id="137" name="모서리가 둥근 직사각형 66">
            <a:extLst>
              <a:ext uri="{FF2B5EF4-FFF2-40B4-BE49-F238E27FC236}">
                <a16:creationId xmlns:a16="http://schemas.microsoft.com/office/drawing/2014/main" id="{CB7493E1-C446-47DA-8FF4-AB2C319D322A}"/>
              </a:ext>
            </a:extLst>
          </p:cNvPr>
          <p:cNvSpPr/>
          <p:nvPr/>
        </p:nvSpPr>
        <p:spPr>
          <a:xfrm>
            <a:off x="8304212" y="4983900"/>
            <a:ext cx="1554480" cy="228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측면 창가 위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8" name="말풍선: 사각형 137">
            <a:extLst>
              <a:ext uri="{FF2B5EF4-FFF2-40B4-BE49-F238E27FC236}">
                <a16:creationId xmlns:a16="http://schemas.microsoft.com/office/drawing/2014/main" id="{6241C3E1-BBF2-4501-9D6F-5FD6903C4DB3}"/>
              </a:ext>
            </a:extLst>
          </p:cNvPr>
          <p:cNvSpPr/>
          <p:nvPr/>
        </p:nvSpPr>
        <p:spPr>
          <a:xfrm>
            <a:off x="7451824" y="1873454"/>
            <a:ext cx="2393320" cy="1432118"/>
          </a:xfrm>
          <a:prstGeom prst="wedgeRectCallout">
            <a:avLst>
              <a:gd name="adj1" fmla="val -117221"/>
              <a:gd name="adj2" fmla="val 14554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9" name="말풍선: 사각형 138">
            <a:extLst>
              <a:ext uri="{FF2B5EF4-FFF2-40B4-BE49-F238E27FC236}">
                <a16:creationId xmlns:a16="http://schemas.microsoft.com/office/drawing/2014/main" id="{37840230-D383-4364-A7AC-6129BFF906E2}"/>
              </a:ext>
            </a:extLst>
          </p:cNvPr>
          <p:cNvSpPr/>
          <p:nvPr/>
        </p:nvSpPr>
        <p:spPr>
          <a:xfrm>
            <a:off x="7477225" y="3590992"/>
            <a:ext cx="2393320" cy="1485941"/>
          </a:xfrm>
          <a:prstGeom prst="wedgeRectCallout">
            <a:avLst>
              <a:gd name="adj1" fmla="val -55666"/>
              <a:gd name="adj2" fmla="val -44703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0" name="그림 139">
            <a:extLst>
              <a:ext uri="{FF2B5EF4-FFF2-40B4-BE49-F238E27FC236}">
                <a16:creationId xmlns:a16="http://schemas.microsoft.com/office/drawing/2014/main" id="{ED26A514-74E4-4AE8-AF74-86E1A41862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690" b="89535" l="10000" r="92581">
                        <a14:foregroundMark x1="90968" y1="53876" x2="90968" y2="53876"/>
                        <a14:foregroundMark x1="92581" y1="53876" x2="92581" y2="5387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11620516" flipV="1">
            <a:off x="5935068" y="1163537"/>
            <a:ext cx="347259" cy="283627"/>
          </a:xfrm>
          <a:prstGeom prst="rect">
            <a:avLst/>
          </a:prstGeom>
        </p:spPr>
      </p:pic>
      <p:sp>
        <p:nvSpPr>
          <p:cNvPr id="141" name="타원 140">
            <a:extLst>
              <a:ext uri="{FF2B5EF4-FFF2-40B4-BE49-F238E27FC236}">
                <a16:creationId xmlns:a16="http://schemas.microsoft.com/office/drawing/2014/main" id="{15251EBC-DE48-4FD9-B182-8DD89897FE18}"/>
              </a:ext>
            </a:extLst>
          </p:cNvPr>
          <p:cNvSpPr/>
          <p:nvPr/>
        </p:nvSpPr>
        <p:spPr>
          <a:xfrm>
            <a:off x="9290022" y="4068992"/>
            <a:ext cx="76200" cy="139917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2" name="타원 141">
            <a:extLst>
              <a:ext uri="{FF2B5EF4-FFF2-40B4-BE49-F238E27FC236}">
                <a16:creationId xmlns:a16="http://schemas.microsoft.com/office/drawing/2014/main" id="{DE478E92-C39E-415E-8DE6-08E3E7D6CB1D}"/>
              </a:ext>
            </a:extLst>
          </p:cNvPr>
          <p:cNvSpPr/>
          <p:nvPr/>
        </p:nvSpPr>
        <p:spPr>
          <a:xfrm>
            <a:off x="8801405" y="2473997"/>
            <a:ext cx="76200" cy="139917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3" name="말풍선: 사각형 142">
            <a:extLst>
              <a:ext uri="{FF2B5EF4-FFF2-40B4-BE49-F238E27FC236}">
                <a16:creationId xmlns:a16="http://schemas.microsoft.com/office/drawing/2014/main" id="{D883F7EB-AF80-41E8-8646-C0E34653543D}"/>
              </a:ext>
            </a:extLst>
          </p:cNvPr>
          <p:cNvSpPr/>
          <p:nvPr/>
        </p:nvSpPr>
        <p:spPr>
          <a:xfrm>
            <a:off x="2266058" y="5327547"/>
            <a:ext cx="2564985" cy="1155307"/>
          </a:xfrm>
          <a:prstGeom prst="wedgeRectCallout">
            <a:avLst>
              <a:gd name="adj1" fmla="val 50118"/>
              <a:gd name="adj2" fmla="val -86565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45" name="그림 144">
            <a:extLst>
              <a:ext uri="{FF2B5EF4-FFF2-40B4-BE49-F238E27FC236}">
                <a16:creationId xmlns:a16="http://schemas.microsoft.com/office/drawing/2014/main" id="{6028DDA4-0A27-4A5D-A407-2B6FAE1B21A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82390" y="5348135"/>
            <a:ext cx="1386215" cy="1114130"/>
          </a:xfrm>
          <a:prstGeom prst="rect">
            <a:avLst/>
          </a:prstGeom>
        </p:spPr>
      </p:pic>
      <p:pic>
        <p:nvPicPr>
          <p:cNvPr id="147" name="그림 146">
            <a:extLst>
              <a:ext uri="{FF2B5EF4-FFF2-40B4-BE49-F238E27FC236}">
                <a16:creationId xmlns:a16="http://schemas.microsoft.com/office/drawing/2014/main" id="{50699EF2-AA69-43AF-833D-A4B5E542BA1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688225" y="5355101"/>
            <a:ext cx="1117417" cy="947010"/>
          </a:xfrm>
          <a:prstGeom prst="rect">
            <a:avLst/>
          </a:prstGeom>
        </p:spPr>
      </p:pic>
      <p:sp>
        <p:nvSpPr>
          <p:cNvPr id="148" name="타원 147">
            <a:extLst>
              <a:ext uri="{FF2B5EF4-FFF2-40B4-BE49-F238E27FC236}">
                <a16:creationId xmlns:a16="http://schemas.microsoft.com/office/drawing/2014/main" id="{18DDA040-B8E0-46AA-B912-47CA2D2F4092}"/>
              </a:ext>
            </a:extLst>
          </p:cNvPr>
          <p:cNvSpPr/>
          <p:nvPr/>
        </p:nvSpPr>
        <p:spPr>
          <a:xfrm>
            <a:off x="4231350" y="5552155"/>
            <a:ext cx="76200" cy="139917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9" name="모서리가 둥근 직사각형 66">
            <a:extLst>
              <a:ext uri="{FF2B5EF4-FFF2-40B4-BE49-F238E27FC236}">
                <a16:creationId xmlns:a16="http://schemas.microsoft.com/office/drawing/2014/main" id="{270361DA-F050-4483-872F-B0A9E05F1681}"/>
              </a:ext>
            </a:extLst>
          </p:cNvPr>
          <p:cNvSpPr/>
          <p:nvPr/>
        </p:nvSpPr>
        <p:spPr>
          <a:xfrm>
            <a:off x="3463044" y="6274268"/>
            <a:ext cx="1554480" cy="228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스피드도어 위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FF9975FE-6258-4C4E-A133-463A374B8483}"/>
              </a:ext>
            </a:extLst>
          </p:cNvPr>
          <p:cNvCxnSpPr>
            <a:cxnSpLocks/>
            <a:endCxn id="115" idx="3"/>
          </p:cNvCxnSpPr>
          <p:nvPr/>
        </p:nvCxnSpPr>
        <p:spPr>
          <a:xfrm flipV="1">
            <a:off x="3662896" y="2790248"/>
            <a:ext cx="1842023" cy="42012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4D6B7ABB-E545-4A1F-8EB1-1550E3140182}"/>
              </a:ext>
            </a:extLst>
          </p:cNvPr>
          <p:cNvCxnSpPr>
            <a:cxnSpLocks/>
            <a:endCxn id="115" idx="3"/>
          </p:cNvCxnSpPr>
          <p:nvPr/>
        </p:nvCxnSpPr>
        <p:spPr>
          <a:xfrm>
            <a:off x="4219767" y="2363217"/>
            <a:ext cx="1285152" cy="427031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17481A3D-50BB-4C5A-A4A5-73D81024F0C8}"/>
              </a:ext>
            </a:extLst>
          </p:cNvPr>
          <p:cNvCxnSpPr>
            <a:cxnSpLocks/>
            <a:endCxn id="114" idx="3"/>
          </p:cNvCxnSpPr>
          <p:nvPr/>
        </p:nvCxnSpPr>
        <p:spPr>
          <a:xfrm flipV="1">
            <a:off x="4379946" y="3472642"/>
            <a:ext cx="2685026" cy="272948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4E6D2D6D-BB65-4CCD-AF6B-8F90EBBFD152}"/>
              </a:ext>
            </a:extLst>
          </p:cNvPr>
          <p:cNvCxnSpPr>
            <a:cxnSpLocks/>
            <a:endCxn id="114" idx="3"/>
          </p:cNvCxnSpPr>
          <p:nvPr/>
        </p:nvCxnSpPr>
        <p:spPr>
          <a:xfrm>
            <a:off x="4644328" y="3203112"/>
            <a:ext cx="2420644" cy="269530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1" name="그림 160">
            <a:extLst>
              <a:ext uri="{FF2B5EF4-FFF2-40B4-BE49-F238E27FC236}">
                <a16:creationId xmlns:a16="http://schemas.microsoft.com/office/drawing/2014/main" id="{29E81307-72DE-4372-B967-60DA870A3983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477225" y="663015"/>
            <a:ext cx="1531736" cy="834285"/>
          </a:xfrm>
          <a:prstGeom prst="rect">
            <a:avLst/>
          </a:prstGeom>
        </p:spPr>
      </p:pic>
      <p:pic>
        <p:nvPicPr>
          <p:cNvPr id="163" name="그림 162">
            <a:extLst>
              <a:ext uri="{FF2B5EF4-FFF2-40B4-BE49-F238E27FC236}">
                <a16:creationId xmlns:a16="http://schemas.microsoft.com/office/drawing/2014/main" id="{69787ECE-36AC-4C98-899E-D8DB681D0BA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029448" y="670631"/>
            <a:ext cx="764432" cy="834285"/>
          </a:xfrm>
          <a:prstGeom prst="rect">
            <a:avLst/>
          </a:prstGeom>
        </p:spPr>
      </p:pic>
      <p:sp>
        <p:nvSpPr>
          <p:cNvPr id="164" name="말풍선: 사각형 163">
            <a:extLst>
              <a:ext uri="{FF2B5EF4-FFF2-40B4-BE49-F238E27FC236}">
                <a16:creationId xmlns:a16="http://schemas.microsoft.com/office/drawing/2014/main" id="{3A65CB21-2A7E-4D20-9065-11CD4501DB11}"/>
              </a:ext>
            </a:extLst>
          </p:cNvPr>
          <p:cNvSpPr/>
          <p:nvPr/>
        </p:nvSpPr>
        <p:spPr>
          <a:xfrm>
            <a:off x="7435915" y="629079"/>
            <a:ext cx="2377765" cy="1027533"/>
          </a:xfrm>
          <a:prstGeom prst="wedgeRectCallout">
            <a:avLst>
              <a:gd name="adj1" fmla="val -53175"/>
              <a:gd name="adj2" fmla="val -15193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5" name="타원 164">
            <a:extLst>
              <a:ext uri="{FF2B5EF4-FFF2-40B4-BE49-F238E27FC236}">
                <a16:creationId xmlns:a16="http://schemas.microsoft.com/office/drawing/2014/main" id="{CD2E78E1-E884-4154-B929-396D3E2E4527}"/>
              </a:ext>
            </a:extLst>
          </p:cNvPr>
          <p:cNvSpPr/>
          <p:nvPr/>
        </p:nvSpPr>
        <p:spPr>
          <a:xfrm>
            <a:off x="9319339" y="797279"/>
            <a:ext cx="76200" cy="139917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6" name="모서리가 둥근 직사각형 66">
            <a:extLst>
              <a:ext uri="{FF2B5EF4-FFF2-40B4-BE49-F238E27FC236}">
                <a16:creationId xmlns:a16="http://schemas.microsoft.com/office/drawing/2014/main" id="{F2F7CE68-202B-4F3A-ABD7-BA464A762E35}"/>
              </a:ext>
            </a:extLst>
          </p:cNvPr>
          <p:cNvSpPr/>
          <p:nvPr/>
        </p:nvSpPr>
        <p:spPr>
          <a:xfrm>
            <a:off x="8304212" y="1551135"/>
            <a:ext cx="1554480" cy="228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 </a:t>
            </a:r>
            <a:r>
              <a:rPr lang="en-US" altLang="ko-KR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8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원료창고위</a:t>
            </a:r>
            <a:endParaRPr lang="en-US" altLang="ko-KR" sz="8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67" name="직선 연결선 166">
            <a:extLst>
              <a:ext uri="{FF2B5EF4-FFF2-40B4-BE49-F238E27FC236}">
                <a16:creationId xmlns:a16="http://schemas.microsoft.com/office/drawing/2014/main" id="{2BDC2883-480B-4606-8F67-59242E985AF4}"/>
              </a:ext>
            </a:extLst>
          </p:cNvPr>
          <p:cNvCxnSpPr>
            <a:cxnSpLocks/>
            <a:endCxn id="140" idx="3"/>
          </p:cNvCxnSpPr>
          <p:nvPr/>
        </p:nvCxnSpPr>
        <p:spPr>
          <a:xfrm>
            <a:off x="4776638" y="717862"/>
            <a:ext cx="1163352" cy="546440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>
            <a:extLst>
              <a:ext uri="{FF2B5EF4-FFF2-40B4-BE49-F238E27FC236}">
                <a16:creationId xmlns:a16="http://schemas.microsoft.com/office/drawing/2014/main" id="{EFB515CA-99F9-4419-BEB6-01A08598CA1B}"/>
              </a:ext>
            </a:extLst>
          </p:cNvPr>
          <p:cNvCxnSpPr>
            <a:cxnSpLocks/>
            <a:endCxn id="140" idx="3"/>
          </p:cNvCxnSpPr>
          <p:nvPr/>
        </p:nvCxnSpPr>
        <p:spPr>
          <a:xfrm flipV="1">
            <a:off x="5407453" y="1264302"/>
            <a:ext cx="532537" cy="301007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39324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7248-23E4-7292-D3EA-00787F7AD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2">
            <a:extLst>
              <a:ext uri="{FF2B5EF4-FFF2-40B4-BE49-F238E27FC236}">
                <a16:creationId xmlns:a16="http://schemas.microsoft.com/office/drawing/2014/main" id="{51FCE980-1544-8A88-0C3D-1036A6EDCA36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237744" y="146304"/>
            <a:ext cx="9428924" cy="384048"/>
          </a:xfrm>
          <a:prstGeom prst="rect">
            <a:avLst/>
          </a:prstGeom>
        </p:spPr>
        <p:txBody>
          <a:bodyPr vert="horz" lIns="91425" tIns="45713" rIns="91425" bIns="45713" rtlCol="0" anchor="ctr">
            <a:noAutofit/>
          </a:bodyPr>
          <a:lstStyle/>
          <a:p>
            <a:pPr lvl="0">
              <a:defRPr/>
            </a:pPr>
            <a:r>
              <a:rPr lang="ko-KR" altLang="en-US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포장재 창고 </a:t>
            </a:r>
            <a:r>
              <a:rPr lang="en-US" altLang="ko-KR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(2</a:t>
            </a:r>
            <a:r>
              <a:rPr lang="ko-KR" altLang="en-US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층</a:t>
            </a:r>
            <a:r>
              <a:rPr lang="en-US" altLang="ko-KR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) – </a:t>
            </a:r>
            <a:r>
              <a:rPr lang="en-US" altLang="ko-KR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1</a:t>
            </a:r>
            <a:r>
              <a:rPr lang="ko-KR" altLang="en-US" sz="1900" b="1" spc="-150" dirty="0">
                <a:solidFill>
                  <a:srgbClr val="0F2A4A"/>
                </a:solidFill>
                <a:latin typeface="맑은 고딕" panose="020D0604000000000000" pitchFamily="50" charset="-127"/>
                <a:ea typeface="맑은 고딕" panose="020D0604000000000000" pitchFamily="50" charset="-127"/>
                <a:cs typeface="맑은 고딕"/>
                <a:sym typeface="아리따-돋움(OTF)-Medium"/>
              </a:rPr>
              <a:t>대</a:t>
            </a:r>
          </a:p>
        </p:txBody>
      </p:sp>
      <p:pic>
        <p:nvPicPr>
          <p:cNvPr id="15" name="그림 14" descr="평면도, 도표, 개략도, 텍스트이(가) 표시된 사진">
            <a:extLst>
              <a:ext uri="{FF2B5EF4-FFF2-40B4-BE49-F238E27FC236}">
                <a16:creationId xmlns:a16="http://schemas.microsoft.com/office/drawing/2014/main" id="{718DB065-24F3-463E-9332-22EF0AB8D3F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0" t="35950" r="83703" b="15973"/>
          <a:stretch/>
        </p:blipFill>
        <p:spPr>
          <a:xfrm rot="5400000">
            <a:off x="2227983" y="488025"/>
            <a:ext cx="2968131" cy="521671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B886638-2288-4135-A0A6-9A98545C3E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247618">
            <a:off x="4397741" y="4236733"/>
            <a:ext cx="308975" cy="263695"/>
          </a:xfrm>
          <a:prstGeom prst="rect">
            <a:avLst/>
          </a:prstGeom>
        </p:spPr>
      </p:pic>
      <p:sp>
        <p:nvSpPr>
          <p:cNvPr id="19" name="모서리가 둥근 직사각형 66">
            <a:extLst>
              <a:ext uri="{FF2B5EF4-FFF2-40B4-BE49-F238E27FC236}">
                <a16:creationId xmlns:a16="http://schemas.microsoft.com/office/drawing/2014/main" id="{688F9031-ECEE-40DC-B0A4-8D9B44A898EB}"/>
              </a:ext>
            </a:extLst>
          </p:cNvPr>
          <p:cNvSpPr/>
          <p:nvPr/>
        </p:nvSpPr>
        <p:spPr>
          <a:xfrm>
            <a:off x="4489342" y="2964018"/>
            <a:ext cx="1187637" cy="228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00" dirty="0">
                <a:solidFill>
                  <a:srgbClr val="0000FF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입식 지게차 운행구역</a:t>
            </a:r>
            <a:endParaRPr lang="en-US" altLang="ko-KR" sz="1000" dirty="0">
              <a:solidFill>
                <a:srgbClr val="0000FF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5D3150F3-9A63-4B20-B3B1-8A4E46A323F7}"/>
              </a:ext>
            </a:extLst>
          </p:cNvPr>
          <p:cNvCxnSpPr>
            <a:cxnSpLocks/>
            <a:stCxn id="18" idx="3"/>
          </p:cNvCxnSpPr>
          <p:nvPr/>
        </p:nvCxnSpPr>
        <p:spPr>
          <a:xfrm flipH="1" flipV="1">
            <a:off x="4380102" y="2751666"/>
            <a:ext cx="218480" cy="1469545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8318A60-AA8C-4F77-828A-6AA80ABBAA7D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4598582" y="3217553"/>
            <a:ext cx="1505885" cy="1003658"/>
          </a:xfrm>
          <a:prstGeom prst="line">
            <a:avLst/>
          </a:prstGeom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그림 9">
            <a:extLst>
              <a:ext uri="{FF2B5EF4-FFF2-40B4-BE49-F238E27FC236}">
                <a16:creationId xmlns:a16="http://schemas.microsoft.com/office/drawing/2014/main" id="{8503B87E-FEE6-41C9-A35B-000CE79A63D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9363" y="1505295"/>
            <a:ext cx="2885534" cy="186579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EC4D1CCD-B8CF-4081-925A-DCD9636546A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46355" y="4759985"/>
            <a:ext cx="1778000" cy="1066464"/>
          </a:xfrm>
          <a:prstGeom prst="rect">
            <a:avLst/>
          </a:prstGeom>
        </p:spPr>
      </p:pic>
      <p:sp>
        <p:nvSpPr>
          <p:cNvPr id="29" name="모서리가 둥근 직사각형 66">
            <a:extLst>
              <a:ext uri="{FF2B5EF4-FFF2-40B4-BE49-F238E27FC236}">
                <a16:creationId xmlns:a16="http://schemas.microsoft.com/office/drawing/2014/main" id="{07C325F9-0A22-41FB-863E-377606864D23}"/>
              </a:ext>
            </a:extLst>
          </p:cNvPr>
          <p:cNvSpPr/>
          <p:nvPr/>
        </p:nvSpPr>
        <p:spPr>
          <a:xfrm>
            <a:off x="2837711" y="5826449"/>
            <a:ext cx="1995288" cy="2286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*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위치 </a:t>
            </a:r>
            <a:r>
              <a:rPr lang="en-US" altLang="ko-KR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: </a:t>
            </a:r>
            <a:r>
              <a:rPr lang="ko-KR" altLang="en-US" sz="9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스피드도어 우측</a:t>
            </a:r>
            <a:endParaRPr lang="en-US" altLang="ko-KR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말풍선: 사각형 12">
            <a:extLst>
              <a:ext uri="{FF2B5EF4-FFF2-40B4-BE49-F238E27FC236}">
                <a16:creationId xmlns:a16="http://schemas.microsoft.com/office/drawing/2014/main" id="{B6359B89-8A1B-48AB-ADE0-2ECA1CC4D2FC}"/>
              </a:ext>
            </a:extLst>
          </p:cNvPr>
          <p:cNvSpPr/>
          <p:nvPr/>
        </p:nvSpPr>
        <p:spPr>
          <a:xfrm>
            <a:off x="2946355" y="4759985"/>
            <a:ext cx="1778000" cy="1066464"/>
          </a:xfrm>
          <a:prstGeom prst="wedgeRectCallout">
            <a:avLst>
              <a:gd name="adj1" fmla="val 32976"/>
              <a:gd name="adj2" fmla="val -64524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말풍선: 사각형 31">
            <a:extLst>
              <a:ext uri="{FF2B5EF4-FFF2-40B4-BE49-F238E27FC236}">
                <a16:creationId xmlns:a16="http://schemas.microsoft.com/office/drawing/2014/main" id="{33FD4358-6E02-47E4-941A-6F7D59200ED3}"/>
              </a:ext>
            </a:extLst>
          </p:cNvPr>
          <p:cNvSpPr/>
          <p:nvPr/>
        </p:nvSpPr>
        <p:spPr>
          <a:xfrm>
            <a:off x="6538883" y="1468718"/>
            <a:ext cx="2938633" cy="1934881"/>
          </a:xfrm>
          <a:prstGeom prst="wedgeRectCallout">
            <a:avLst>
              <a:gd name="adj1" fmla="val -59509"/>
              <a:gd name="adj2" fmla="val 25618"/>
            </a:avLst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5E16C253-0971-4EB3-B633-BAC070B58C32}"/>
              </a:ext>
            </a:extLst>
          </p:cNvPr>
          <p:cNvSpPr/>
          <p:nvPr/>
        </p:nvSpPr>
        <p:spPr>
          <a:xfrm>
            <a:off x="3998401" y="4822710"/>
            <a:ext cx="76200" cy="139917"/>
          </a:xfrm>
          <a:prstGeom prst="ellipse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274320" y="841248"/>
            <a:ext cx="1847088" cy="1389888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841248"/>
            <a:ext cx="1847088" cy="34747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841248"/>
            <a:ext cx="1847088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설치 No. 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1298448"/>
            <a:ext cx="1536192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구분  </a:t>
            </a:r>
            <a:r>
              <a:rPr sz="9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포장재창고 2층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위치  </a:t>
            </a:r>
            <a:r>
              <a:rPr sz="9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스피드도어 우측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1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감시  </a:t>
            </a:r>
            <a:r>
              <a:rPr sz="9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입식 지게차 운행구역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2367196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46304"/>
            <a:ext cx="94289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조사 개요</a:t>
            </a:r>
            <a:r>
              <a:rPr sz="11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    조사 목적 · 배경 · 범위 · 방법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" y="749808"/>
            <a:ext cx="2192639" cy="896112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02336" y="868680"/>
            <a:ext cx="18634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C9D8E8"/>
                </a:solidFill>
                <a:latin typeface="맑은 고딕"/>
                <a:ea typeface="맑은 고딕"/>
                <a:cs typeface="맑은 고딕"/>
              </a:rPr>
              <a:t>총 설치 수량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2336" y="1097280"/>
            <a:ext cx="1863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8</a:t>
            </a:r>
            <a:r>
              <a:rPr sz="1200" b="0">
                <a:solidFill>
                  <a:srgbClr val="C9D8E8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6" name="Rectangle 5"/>
          <p:cNvSpPr/>
          <p:nvPr/>
        </p:nvSpPr>
        <p:spPr>
          <a:xfrm>
            <a:off x="2649839" y="749808"/>
            <a:ext cx="2192639" cy="89611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14431" y="868680"/>
            <a:ext cx="18634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1층 포장재창고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14431" y="1097280"/>
            <a:ext cx="1863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6</a:t>
            </a:r>
            <a:r>
              <a:rPr sz="12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5061934" y="749808"/>
            <a:ext cx="2192639" cy="89611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26526" y="868680"/>
            <a:ext cx="18634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도크장(외부)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6526" y="1097280"/>
            <a:ext cx="1863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2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74029" y="749808"/>
            <a:ext cx="2192639" cy="896112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8621" y="868680"/>
            <a:ext cx="186345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2층 포장재창고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8621" y="1097280"/>
            <a:ext cx="186345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1</a:t>
            </a:r>
            <a:r>
              <a:rPr sz="12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 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" y="1828800"/>
            <a:ext cx="4595590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" y="1828800"/>
            <a:ext cx="566928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7744" y="18288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" y="1993392"/>
            <a:ext cx="36811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조사 목적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487168"/>
            <a:ext cx="412010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창고·도크 구역 내 사각지대 및 지게차 동선 교차 구간에 대한 상시 관제 체계 확보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안전사고·물류 사고(파손·분실) 발생 시 신속한 사실 확인 및 원인 규명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현장 안전 수칙 준수 여부 모니터링을 통한 재발 방지 활동 근거 확보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1078" y="1828800"/>
            <a:ext cx="4595590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71078" y="1828800"/>
            <a:ext cx="566928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1078" y="18288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2598" y="1993392"/>
            <a:ext cx="36811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조사 배경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8822" y="2487168"/>
            <a:ext cx="412010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포장재창고는 지게차·작업자 동선이 상시 교차하고, 랙 적재로 시야 사각지대가 발생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도크장은 외부 차량 상하차가 이루어져 인·물 동시 위험 구간으로 관리 필요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기존 관제 범위 밖 구역에 대한 CCTV 추가 설치 위치 선정 요청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" y="3986784"/>
            <a:ext cx="4595590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7744" y="3986784"/>
            <a:ext cx="566928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" y="398678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" y="4151376"/>
            <a:ext cx="36811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조사 범위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4645152"/>
            <a:ext cx="412010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포장재창고 1층 및 도크장(외부) : 7개소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포장재창고 2층 : 1개소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총 8개소 / 8대 (설치 지점·화각 방향·전원 및 통신 여건 포함)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71078" y="3986784"/>
            <a:ext cx="4595590" cy="1956816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71078" y="3986784"/>
            <a:ext cx="566928" cy="56692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71078" y="398678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2598" y="4151376"/>
            <a:ext cx="36811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조사 방법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8822" y="4645152"/>
            <a:ext cx="4120102" cy="1115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현장 실사 후 배치 도면과 대조하여 설치 지점 표기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지게차 운행 동선·반사경 위치·스피드도어 출입부 기준 사각지대 확인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설치 지점별 현장 사진 촬영 및 전원·통신 인입 가능 여부 확인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" y="6053328"/>
            <a:ext cx="94289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※ 조사 목적·배경 항목은 현장 실사 결과를 바탕으로 제니엘이 작성한 초안이며, 발주처 확인 후 확정합니다.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46304"/>
            <a:ext cx="94289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설치 위치 총괄</a:t>
            </a:r>
            <a:r>
              <a:rPr sz="11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    총 8대 / 포장재창고 1층 6대 · 도크장(외부) 1대 · 포장재창고 2층 1대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37744" y="932688"/>
          <a:ext cx="9427464" cy="3401568"/>
        </p:xfrm>
        <a:graphic>
          <a:graphicData uri="http://schemas.openxmlformats.org/drawingml/2006/table">
            <a:tbl>
              <a:tblPr firstRow="1"/>
              <a:tblGrid>
                <a:gridCol w="502920"/>
                <a:gridCol w="1600200"/>
                <a:gridCol w="1965960"/>
                <a:gridCol w="3529584"/>
                <a:gridCol w="182880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No</a:t>
                      </a:r>
                    </a:p>
                  </a:txBody>
                  <a:tcPr marL="91440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구분 (층·구역)</a:t>
                      </a:r>
                    </a:p>
                  </a:txBody>
                  <a:tcPr marL="91440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설치 위치</a:t>
                      </a:r>
                    </a:p>
                  </a:txBody>
                  <a:tcPr marL="91440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주요 감시 구역(안)</a:t>
                      </a:r>
                    </a:p>
                  </a:txBody>
                  <a:tcPr marL="91440" marR="73152" marT="27432" marB="27432" anchor="ctr">
                    <a:solidFill>
                      <a:srgbClr val="0F2A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비 고</a:t>
                      </a:r>
                    </a:p>
                  </a:txBody>
                  <a:tcPr marL="91440" marR="73152" marT="27432" marB="27432" anchor="ctr">
                    <a:solidFill>
                      <a:srgbClr val="0F2A4A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2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1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포장재창고 1층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외주사 휴게실 앞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휴게실 전면 통로 및 작업자 출입 동선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2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포장재창고 1층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휴게실 외벽 상단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창고 주통로 (남측) 지게차 운행 구간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2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포장재창고 1층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3Z-06 옆 기둥 근처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3Z 랙 열 적재부 및 피킹 작업 구역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2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포장재창고 1층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측면 창가 위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측면 통로 및 랙 사이 교차 동선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2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5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포장재창고 1층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스피드도어 위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스피드도어 출입부 (지게차 진·출입)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2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6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포장재창고 1층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반사경 옆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반사경 설치 교차로 (사각지대 구간)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2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7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도크장 (외부)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원료창고 위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도크 접안부 및 상·하차 작업 구역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E8720C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모뎀 추가 연동</a:t>
                      </a:r>
                    </a:p>
                  </a:txBody>
                  <a:tcPr marL="91440" marR="73152" marT="27432" marB="27432" anchor="ctr">
                    <a:solidFill>
                      <a:srgbClr val="FFFFFF"/>
                    </a:solidFill>
                  </a:tcPr>
                </a:tc>
              </a:tr>
              <a:tr h="379476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F2A4A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8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포장재창고 2층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스피드도어 우측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입식 지게차 운행구역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50" b="0">
                          <a:solidFill>
                            <a:srgbClr val="2F3A46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-</a:t>
                      </a:r>
                    </a:p>
                  </a:txBody>
                  <a:tcPr marL="91440" marR="73152" marT="27432" marB="27432" anchor="ctr"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37744" y="4535424"/>
            <a:ext cx="9428924" cy="786384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4681728"/>
            <a:ext cx="902658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외부 도크장 좌·우측 CCTV는 유선 인입이 어려워 모뎀을 추가하여 연동 실시합니다.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주요 감시 구역(안)은 현장 실사 사진을 기준으로 제니엘이 작성한 초안이며, 발주처 확인 후 확정합니다.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" y="5486400"/>
            <a:ext cx="9428924" cy="658368"/>
          </a:xfrm>
          <a:prstGeom prst="rect">
            <a:avLst/>
          </a:prstGeom>
          <a:solidFill>
            <a:srgbClr val="FDF3E8"/>
          </a:solidFill>
          <a:ln w="9525">
            <a:solidFill>
              <a:srgbClr val="F0C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5605272"/>
            <a:ext cx="902658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050" b="1">
                <a:solidFill>
                  <a:srgbClr val="E8720C"/>
                </a:solidFill>
                <a:latin typeface="맑은 고딕"/>
                <a:ea typeface="맑은 고딕"/>
                <a:cs typeface="맑은 고딕"/>
              </a:rPr>
              <a:t>[확인 필요] </a:t>
            </a:r>
            <a:r>
              <a:rPr sz="1050" b="1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도크장(외부) 설치 수량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총괄 수량은 도크장 외부 1대로 기재되어 있으나, 모뎀 연동 대상은 "좌·우측 2대"로 표기되어 있어 최종 수량(총 8대 / 9대) 확정이 필요합니다.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46304"/>
            <a:ext cx="94289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설치 시 검토사항</a:t>
            </a:r>
            <a:r>
              <a:rPr sz="11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    설치 확정 전 현장 여건 확인이 필요한 항목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" y="768096"/>
            <a:ext cx="4595590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744" y="768096"/>
            <a:ext cx="4595590" cy="457200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768096"/>
            <a:ext cx="412010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전원 · 통신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389888"/>
            <a:ext cx="412010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설치 지점별 전원 인입 위치 및 여유 용량 확인 (분전반 거리 / 배선 경로)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도크장 외부는 유선 인입이 어려워 모뎀(무선) 추가 연동 방식 적용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녹화 장비(NVR) 설치 위치 및 기존 관제 시스템 연동 방식 확정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1078" y="768096"/>
            <a:ext cx="4595590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71078" y="768096"/>
            <a:ext cx="4595590" cy="45720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8822" y="768096"/>
            <a:ext cx="412010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화각 · 사각지대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8822" y="1389888"/>
            <a:ext cx="412010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랙 적재 높이 변동에 따른 시야 가림 여부 사전 검토 (만적 기준 화각 확인)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반사경 설치 교차로는 양방향 동선이 함께 잡히도록 설치 각도 조정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스피드도어·도크 접안부는 역광 발생 구간으로 노출 보정 기능 필요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" y="3364991"/>
            <a:ext cx="4595590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" y="3364991"/>
            <a:ext cx="4595590" cy="457200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364991"/>
            <a:ext cx="412010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설치 환경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" y="3986783"/>
            <a:ext cx="412010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스피드도어 상부는 개폐 진동이 발생하므로 브래킷 고정 방식 보강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창고 내 분진·온습도 및 외부 지점의 방수·방진 등급(IP66 이상 권장) 확인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조도 편차가 큰 구간은 야간·소등 시간대 촬영 품질 사전 확인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1078" y="3364991"/>
            <a:ext cx="4595590" cy="2340864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1078" y="3364991"/>
            <a:ext cx="4595590" cy="457200"/>
          </a:xfrm>
          <a:prstGeom prst="rect">
            <a:avLst/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8822" y="3364991"/>
            <a:ext cx="412010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설치 작업 안전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8822" y="3986783"/>
            <a:ext cx="4120102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고소 작업 구간으로 작업허가서 발행 및 안전대·고소작업대 사용 필수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지게차 운행 구역 내 작업 시 구역 통제 및 유도자 배치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창고 운영 시간을 고려하여 비가동 시간대 작업 우선 협의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" y="6053328"/>
            <a:ext cx="94289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※ 상기 항목은 현장 실사 기준 제니엘 검토(안)이며, 설치 업체 실측 및 발주처 협의를 거쳐 최종 확정합니다.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46304"/>
            <a:ext cx="94289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개인정보보호 준수사항</a:t>
            </a:r>
            <a:r>
              <a:rPr sz="11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    영상정보처리기기 설치·운영 시 사전 조치 사항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" y="804672"/>
            <a:ext cx="9428924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744" y="804672"/>
            <a:ext cx="2788920" cy="113385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안내판 설치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D8E8"/>
                </a:solidFill>
                <a:latin typeface="맑은 고딕"/>
                <a:ea typeface="맑은 고딕"/>
                <a:cs typeface="맑은 고딕"/>
              </a:rPr>
              <a:t>개인정보 보호법 제25조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39" y="1042416"/>
            <a:ext cx="61187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촬영 구역 내 정보주체가 쉽게 인식할 수 있는 위치에 안내판 설치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기재 사항 : 설치 목적 및 장소 / 촬영 범위 및 시간 / 관리책임자 성명·연락처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2066543"/>
            <a:ext cx="9428924" cy="1133856"/>
          </a:xfrm>
          <a:prstGeom prst="rect">
            <a:avLst/>
          </a:prstGeom>
          <a:solidFill>
            <a:srgbClr val="EEF2F7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37744" y="2066543"/>
            <a:ext cx="2788920" cy="1133856"/>
          </a:xfrm>
          <a:prstGeom prst="rect">
            <a:avLst/>
          </a:prstGeom>
          <a:solidFill>
            <a:srgbClr val="1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267712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근로자 대표 협의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D8E8"/>
                </a:solidFill>
                <a:latin typeface="맑은 고딕"/>
                <a:ea typeface="맑은 고딕"/>
                <a:cs typeface="맑은 고딕"/>
              </a:rPr>
              <a:t>근로자참여 및 협력증진에 관한 법률 제20조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39" y="2304287"/>
            <a:ext cx="61187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"사업장 내 근로자 감시 설비의 설치"는 노사협의회 협의 사항에 해당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설치 목적이 근로자 감시가 아님을 명확히 하고, 사전 협의 및 설명 실시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" y="3328415"/>
            <a:ext cx="9428924" cy="1133856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7744" y="3328415"/>
            <a:ext cx="2788920" cy="1133856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529584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운영·관리 방침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D8E8"/>
                </a:solidFill>
                <a:latin typeface="맑은 고딕"/>
                <a:ea typeface="맑은 고딕"/>
                <a:cs typeface="맑은 고딕"/>
              </a:rPr>
              <a:t>보관 및 접근 통제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39" y="3566159"/>
            <a:ext cx="61187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영상정보처리기기 운영·관리 방침 수립 및 공개 (보관 기간 명시)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열람 권한자 지정, 열람 이력 관리, 보관 기간 경과 시 자동 파기 설정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" y="4590288"/>
            <a:ext cx="9428924" cy="1133856"/>
          </a:xfrm>
          <a:prstGeom prst="rect">
            <a:avLst/>
          </a:prstGeom>
          <a:solidFill>
            <a:srgbClr val="EEF2F7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7744" y="4590288"/>
            <a:ext cx="2788920" cy="1133856"/>
          </a:xfrm>
          <a:prstGeom prst="rect">
            <a:avLst/>
          </a:prstGeom>
          <a:solidFill>
            <a:srgbClr val="1B3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91455"/>
            <a:ext cx="239572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도급 현장 운영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C9D8E8"/>
                </a:solidFill>
                <a:latin typeface="맑은 고딕"/>
                <a:ea typeface="맑은 고딕"/>
                <a:cs typeface="맑은 고딕"/>
              </a:rPr>
              <a:t>제니엘 준수 사항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4828031"/>
            <a:ext cx="6118796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도급 인력의 영상 열람은 발주처 승인 절차를 거친 경우로 한정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5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입사 교육 시 CCTV 설치 목적·범위 안내 및 확인 서명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" y="6053328"/>
            <a:ext cx="942892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※ 법령 조항은 참고용으로 정리한 것이며, 최종 적용 범위는 발주처 개인정보보호 담당 부서 검토 결과에 따릅니다.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37744" y="146304"/>
            <a:ext cx="94289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추진 일정 및 협조 요청</a:t>
            </a:r>
            <a:r>
              <a:rPr sz="11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    위치 확정 이후 단계별 추진 계획(안)</a:t>
            </a:r>
          </a:p>
        </p:txBody>
      </p:sp>
      <p:sp>
        <p:nvSpPr>
          <p:cNvPr id="3" name="Rectangle 2"/>
          <p:cNvSpPr/>
          <p:nvPr/>
        </p:nvSpPr>
        <p:spPr>
          <a:xfrm>
            <a:off x="237744" y="822960"/>
            <a:ext cx="2192639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37744" y="822960"/>
            <a:ext cx="2192639" cy="32918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37744" y="822960"/>
            <a:ext cx="21926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1298448"/>
            <a:ext cx="1826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설치 위치 확정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" y="1700784"/>
            <a:ext cx="1826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총괄표 기준 8개소 승인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도크장 외부 수량 확정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" y="2304288"/>
            <a:ext cx="18268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일정 : (      .      ~      .      )</a:t>
            </a:r>
          </a:p>
        </p:txBody>
      </p:sp>
      <p:sp>
        <p:nvSpPr>
          <p:cNvPr id="9" name="Rectangle 8"/>
          <p:cNvSpPr/>
          <p:nvPr/>
        </p:nvSpPr>
        <p:spPr>
          <a:xfrm>
            <a:off x="2649839" y="822960"/>
            <a:ext cx="2192639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49839" y="822960"/>
            <a:ext cx="2192639" cy="329184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49839" y="822960"/>
            <a:ext cx="21926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2719" y="1298448"/>
            <a:ext cx="1826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자재 발주 · 입고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2719" y="1700784"/>
            <a:ext cx="1826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카메라·모뎀·NVR 사양 확정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설치 업체 선정 및 실측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2719" y="2304288"/>
            <a:ext cx="18268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일정 : (      .      ~      .      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61934" y="822960"/>
            <a:ext cx="2192639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61934" y="822960"/>
            <a:ext cx="2192639" cy="329184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61934" y="822960"/>
            <a:ext cx="21926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4814" y="1298448"/>
            <a:ext cx="1826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설치 · 배선 공사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4814" y="1700784"/>
            <a:ext cx="1826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전원/통신 배선 시공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고소작업 허가 및 구역 통제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4814" y="2304288"/>
            <a:ext cx="18268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일정 : (      .      ~      .      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74029" y="822960"/>
            <a:ext cx="2192639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74029" y="822960"/>
            <a:ext cx="2192639" cy="329184"/>
          </a:xfrm>
          <a:prstGeom prst="rect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74029" y="822960"/>
            <a:ext cx="2192639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spc="1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6909" y="1298448"/>
            <a:ext cx="1826879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F2A4A"/>
                </a:solidFill>
                <a:latin typeface="맑은 고딕"/>
                <a:ea typeface="맑은 고딕"/>
                <a:cs typeface="맑은 고딕"/>
              </a:rPr>
              <a:t>시운전 · 운영 개시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6909" y="1700784"/>
            <a:ext cx="18268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화각 조정 및 녹화 확인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0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안내판 설치 · 관제 교육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6909" y="2304288"/>
            <a:ext cx="18268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B7682"/>
                </a:solidFill>
                <a:latin typeface="맑은 고딕"/>
                <a:ea typeface="맑은 고딕"/>
                <a:cs typeface="맑은 고딕"/>
              </a:rPr>
              <a:t>일정 : (      .      ~      .      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" y="2871216"/>
            <a:ext cx="942892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3DB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37744" y="2871216"/>
            <a:ext cx="9428924" cy="420624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488" y="2871216"/>
            <a:ext cx="895343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발주처 협조 요청 사항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" y="3438144"/>
            <a:ext cx="8880284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00" b="1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전원 · 통신 인입 지원 : </a:t>
            </a:r>
            <a:r>
              <a:rPr sz="11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설치 지점별 전원 확보 위치 및 사내망(또는 모뎀) 연동 조건 안내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00" b="1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작업 여건 협조 : </a:t>
            </a:r>
            <a:r>
              <a:rPr sz="11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고소작업 허가 발행, 지게차 운행 구역 통제, 비가동 시간대 작업 승인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00" b="1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운영 기준 확정 : </a:t>
            </a:r>
            <a:r>
              <a:rPr sz="11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영상 보관 기간, 열람 권한자 및 관리책임자 지정, 안내판 문안 확정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1B6CA8"/>
                </a:solidFill>
                <a:latin typeface="맑은 고딕"/>
                <a:ea typeface="맑은 고딕"/>
                <a:cs typeface="맑은 고딕"/>
              </a:rPr>
              <a:t>· </a:t>
            </a:r>
            <a:r>
              <a:rPr sz="1100" b="1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설치 위치 최종 승인 : </a:t>
            </a:r>
            <a:r>
              <a:rPr sz="1100" b="0">
                <a:solidFill>
                  <a:srgbClr val="2F3A46"/>
                </a:solidFill>
                <a:latin typeface="맑은 고딕"/>
                <a:ea typeface="맑은 고딕"/>
                <a:cs typeface="맑은 고딕"/>
              </a:rPr>
              <a:t>총괄표 8개소 및 도크장 외부 수량(1대/2대) 확정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" y="4956048"/>
            <a:ext cx="9428924" cy="932688"/>
          </a:xfrm>
          <a:prstGeom prst="rect">
            <a:avLst/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0352" y="5102352"/>
            <a:ext cx="8843708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제니엘은 설치 위치 확정 이후 현장 안전 관리와 운영 기준 준수를 함께 지원하겠습니다.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9D8E8"/>
                </a:solidFill>
                <a:latin typeface="맑은 고딕"/>
                <a:ea typeface="맑은 고딕"/>
                <a:cs typeface="맑은 고딕"/>
              </a:rPr>
              <a:t>작성 : 제니엘   |   본 자료는 현장 실사 결과를 정리한 보고용 자료이며, 발주처 확인 후 확정됩니다.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6F1hRvbEqHFVzO3pfStQ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M6F1hRvbEqHFVzO3pfSt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rdym.jL06xNi8r6dTG2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iGrdym.jL06xNi8r6dTG2A"/>
</p:tagLst>
</file>

<file path=ppt/theme/theme1.xml><?xml version="1.0" encoding="utf-8"?>
<a:theme xmlns:a="http://schemas.openxmlformats.org/drawingml/2006/main" name="1_Office 테마">
  <a:themeElements>
    <a:clrScheme name="아모레퍼시픽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214E81"/>
      </a:accent1>
      <a:accent2>
        <a:srgbClr val="728AAF"/>
      </a:accent2>
      <a:accent3>
        <a:srgbClr val="9BBEDE"/>
      </a:accent3>
      <a:accent4>
        <a:srgbClr val="BDD2E8"/>
      </a:accent4>
      <a:accent5>
        <a:srgbClr val="D7DFE8"/>
      </a:accent5>
      <a:accent6>
        <a:srgbClr val="EBEBEB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Application xmlns="http://www.sap.com/cof/ao/powerpoint/application">
  <com.sap.ip.bi.pioneer>
    <Version>4</Version>
    <AAO_Revision>2.3.0.57241</AAO_Revision>
    <RefreshOnOpen>False</RefreshOnOpen>
    <PlanningModeSetToChangeMode>True</PlanningModeSetToChangeMode>
    <Cleaned>False</Cleaned>
    <ForcePromptOnInitialRefresh>False</ForcePromptOnInitialRefresh>
    <StorePromptsInDocument>True</StorePromptsInDocument>
    <MergeVariables>False</MergeVariables>
    <WorkingMode>Local</WorkingMode>
    <RefreshPlanningObjectsOnRefreshAll>True</RefreshPlanningObjectsOnRefreshAll>
    <Items/>
  </com.sap.ip.bi.pioneer>
</Application>
</file>

<file path=customXml/item2.xml><?xml version="1.0" encoding="utf-8"?>
<Application xmlns="http://www.sap.com/cof/powerpoint/application">
  <Version>2</Version>
  <Revision>2.3.0.57241</Revision>
</Application>
</file>

<file path=customXml/itemProps1.xml><?xml version="1.0" encoding="utf-8"?>
<ds:datastoreItem xmlns:ds="http://schemas.openxmlformats.org/officeDocument/2006/customXml" ds:itemID="{D459A37A-7504-48BF-AE7A-ACA945A5BC77}">
  <ds:schemaRefs>
    <ds:schemaRef ds:uri="http://www.sap.com/cof/ao/powerpoint/application"/>
  </ds:schemaRefs>
</ds:datastoreItem>
</file>

<file path=customXml/itemProps2.xml><?xml version="1.0" encoding="utf-8"?>
<ds:datastoreItem xmlns:ds="http://schemas.openxmlformats.org/officeDocument/2006/customXml" ds:itemID="{D168AF92-FB5E-421E-8540-851701DB150A}">
  <ds:schemaRefs>
    <ds:schemaRef ds:uri="http://www.sap.com/cof/powerpoint/applicatio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28926</TotalTime>
  <Words>136</Words>
  <Application>Microsoft Office PowerPoint</Application>
  <PresentationFormat>사용자 지정</PresentationFormat>
  <Paragraphs>22</Paragraphs>
  <Slides>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3" baseType="lpstr">
      <vt:lpstr>굴림</vt:lpstr>
      <vt:lpstr>나눔고딕</vt:lpstr>
      <vt:lpstr>맑은 고딕</vt:lpstr>
      <vt:lpstr>아리따-돋움(OTF)-Medium</vt:lpstr>
      <vt:lpstr>아리따-돋움(TTF)-Bold</vt:lpstr>
      <vt:lpstr>아리따-돋움(TTF)-Medium</vt:lpstr>
      <vt:lpstr>아리따-돋움(TTF)-SemiBold</vt:lpstr>
      <vt:lpstr>아리따-돋움4.0(OTF)-Bold</vt:lpstr>
      <vt:lpstr>Arial</vt:lpstr>
      <vt:lpstr>1_Office 테마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hey-im.yoon</dc:creator>
  <cp:lastModifiedBy>Zeniel</cp:lastModifiedBy>
  <cp:revision>6090</cp:revision>
  <cp:lastPrinted>2026-08-18T07:06:09Z</cp:lastPrinted>
  <dcterms:modified xsi:type="dcterms:W3CDTF">2026-08-19T08:34:48Z</dcterms:modified>
</cp:coreProperties>
</file>