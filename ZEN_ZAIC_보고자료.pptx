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736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B2736"/>
                </a:solidFill>
                <a:latin typeface="Malgun Gothic"/>
              </a:rPr>
              <a:t>주차별 인시생산성(주 단독) — D1 work_records 실측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인시생산성 (PLT/MH)</c:v>
                </c:pt>
              </c:strCache>
            </c:strRef>
          </c:tx>
          <c:spPr>
            <a:solidFill>
              <a:srgbClr val="1D3A5F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6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A86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가동 1주차 (8/7~14)</c:v>
                  </c:pt>
                  <c:pt idx="1">
                    <c:v>가동 2주차 (8/15~21)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0.33</c:v>
                </c:pt>
                <c:pt idx="1">
                  <c:v>0.44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736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88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E2E9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88F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0.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제2회 ZAIC · Zeniel GenAI Challenge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아니라,
</a:t>
            </a:r>
            <a:pPr indent="0" marL="0">
              <a:lnSpc>
                <a:spcPts val="6600"/>
              </a:lnSpc>
              <a:buNone/>
            </a:pPr>
            <a:r>
              <a:rPr lang="en-US" sz="54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‘판단’</a:t>
            </a:r>
            <a:pPr indent="0" marL="0">
              <a:lnSpc>
                <a:spcPts val="6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자동화한다.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ZEN Manufacturing Platform — 제조 현장 통합 운영 AI Agent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5623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0" y="4846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00400" y="5623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코드화 판단 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0" y="4846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577840" y="5623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실연동 시스템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93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제니엘 제조사업부 사업3팀 · AP 대전공장 (아모레퍼시픽 협업 현장)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반복되는 수기 취합 — 구조적 문제 5가지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399032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0" y="13258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생산·인력·세척·안전·폭염 정보가 개별 엑셀 — 매일 수기 합산 후에야 현황 파악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295144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95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22199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수작업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222199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일일·주간·월마감 보고를 직접 취합·계산·작성 — 1건 약 60분, 매일 반복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191256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11810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누락·지연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74720" y="311810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지연오더·생산성 편차·폭염 경보를 수기 확인에 의존 — 발견 지연·누락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087368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87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01421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계산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74720" y="401421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공동작업 분배·부하율·필요 T/O·맨아워를 매회 수기 산출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4983480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910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의존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474720" y="491032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기준이 관리자 개인 경험에 내재 — 인수인계·확산 불가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06840" y="141732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15544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9006840" y="2148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1건 · 매일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06840" y="2898648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303580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2시간</a:t>
            </a:r>
            <a:endParaRPr lang="en-US" sz="2900" dirty="0"/>
          </a:p>
        </p:txBody>
      </p:sp>
      <p:sp>
        <p:nvSpPr>
          <p:cNvPr id="28" name="Text 26"/>
          <p:cNvSpPr/>
          <p:nvPr/>
        </p:nvSpPr>
        <p:spPr>
          <a:xfrm>
            <a:off x="9006840" y="36301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지연오더 취합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06840" y="4379976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45171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2~3시간</a:t>
            </a:r>
            <a:endParaRPr lang="en-US" sz="2900" dirty="0"/>
          </a:p>
        </p:txBody>
      </p:sp>
      <p:sp>
        <p:nvSpPr>
          <p:cNvPr id="31" name="Text 29"/>
          <p:cNvSpPr/>
          <p:nvPr/>
        </p:nvSpPr>
        <p:spPr>
          <a:xfrm>
            <a:off x="9006840" y="511149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수기 작업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— 2026 ZAIC 과제수행 계획서 · 다품종 교대 운영 도급 현장 공통의 구조적 문제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— 현장 앱에서 판단·조치까지, 하나의 흐름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앱 6개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젠키퍼 · 히트워치 · 오리콘/P-BOX · 세척실 · 창고 · 월마감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12724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A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547872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DF3FA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752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집계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730752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 주기 · 다기기 · 공동작업 자동 분배 (D1 프로덕션)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A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547104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D3A5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9984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AI Agent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29984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생산·계획 / 인력 / 세척 / 창고 / 간접 / 품질 / 안전 / 분석·보고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2571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A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546336" y="15544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DFF3E8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9216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→ 조치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729216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32개 자동 판단 · 조치 문안 생성 · 미조치 재알림 · 운영 기록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전부 ‘코드화된 규칙’ — LLM 토큰 소비 없음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임계값·산식이 명문화된 룰 32개가 실측 데이터로 즉시 계산 — 폐쇄망에서도 동작, 운영비 0원, 모든 판단의 근거 추적 가능(감사 대응). 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경험 → 정량 룰 이식으로 신규 관리자도 동일 판단 재현.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화면·시스템 통합이 목적이 아니라 ‘판단 자동화’가 목적 — 기존 시스템은 데이터 소스로 무변경 연결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관제 — 로그인 첫 화면이 곧 ‘결정’</a:t>
            </a:r>
            <a:endParaRPr lang="en-US" sz="3000" dirty="0"/>
          </a:p>
        </p:txBody>
      </p:sp>
      <p:pic>
        <p:nvPicPr>
          <p:cNvPr id="3" name="Image 0" descr="v8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7452360" cy="465429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A3B52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8229600" y="1463040"/>
            <a:ext cx="365760" cy="365760"/>
          </a:xfrm>
          <a:prstGeom prst="ellipse">
            <a:avLst/>
          </a:prstGeom>
          <a:solidFill>
            <a:srgbClr val="DFF3E8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73252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→ 4 결정 흐름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732520" y="184708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→ 위험 예측 → AI 판단 → 조치 실행 — 화면 순서가 업무 순서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0" y="3017520"/>
            <a:ext cx="365760" cy="365760"/>
          </a:xfrm>
          <a:prstGeom prst="ellipse">
            <a:avLst/>
          </a:prstGeom>
          <a:solidFill>
            <a:srgbClr val="DFF3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325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 1건 집중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732520" y="34015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급한 판단 1건과 권고 조치를 첫 화면에서 바로 제시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0" y="4572000"/>
            <a:ext cx="365760" cy="365760"/>
          </a:xfrm>
          <a:prstGeom prst="ellipse">
            <a:avLst/>
          </a:prstGeom>
          <a:solidFill>
            <a:srgbClr val="DF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73252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실행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732520" y="495604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[조치 승인] 클릭 즉시 완료 처리·이력 기록 — 성과지표 조치율에 실시간 반영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= 업무 순서 : ① 계획·예측 → ② 현황·실측 → ③ 판단·조치 → ④ 보고 (+ 기준·관리) — 역할별 권한 분리 · 비밀번호 검증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기준의 코드화 — 판단 룰 32개, 화면으로 증명</a:t>
            </a:r>
            <a:endParaRPr lang="en-US" sz="3000" dirty="0"/>
          </a:p>
        </p:txBody>
      </p:sp>
      <p:pic>
        <p:nvPicPr>
          <p:cNvPr id="3" name="Image 0" descr="j_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7452360" cy="465429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A3B52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8229600" y="1463040"/>
            <a:ext cx="365760" cy="365760"/>
          </a:xfrm>
          <a:prstGeom prst="ellipse">
            <a:avLst/>
          </a:prstGeom>
          <a:solidFill>
            <a:srgbClr val="EDF3FA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73252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· 임계값 · 조치 명문화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32520" y="18470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부하율≥100% · 적치율≥100% · WBGT 28/31℃ 단계 · 생산성 편차&gt;40% 등 — 관리자 경험을 정량 룰로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0" y="3017520"/>
            <a:ext cx="365760" cy="365760"/>
          </a:xfrm>
          <a:prstGeom prst="ellipse">
            <a:avLst/>
          </a:prstGeom>
          <a:solidFill>
            <a:srgbClr val="EDF3F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3252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발동 중인 룰 표시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732520" y="340156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데이터와 실시간 대조 — 초록 행 = 현재 발동 중 (시연에서 바로 확인)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0" y="4572000"/>
            <a:ext cx="365760" cy="365760"/>
          </a:xfrm>
          <a:prstGeom prst="ellipse">
            <a:avLst/>
          </a:prstGeom>
          <a:solidFill>
            <a:srgbClr val="EDF3F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73252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주기 보정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732520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오탐·미탐 이력과 현장 수정 사유를 반영해 룰을 계속 학습·보정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 KPI [6] ‘판단 기준 룰 30개 이상 코드화’ — 32개로 초과 달성 · 신규 관리자도 동일 판단 재현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통보에서 끝나지 않는다 — 조치 추적 · 운영 기록</a:t>
            </a:r>
            <a:endParaRPr lang="en-US" sz="3000" dirty="0"/>
          </a:p>
        </p:txBody>
      </p:sp>
      <p:pic>
        <p:nvPicPr>
          <p:cNvPr id="3" name="Image 0" descr="t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492240" cy="40599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A3B52">
                <a:alpha val="3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02920" y="55321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→ 조치 → 결과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5833872"/>
            <a:ext cx="6492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문안 자동 생성 · 담당·기한 부여 · 조치율(목표 90%)과 효과 확인율을 따로 계산 — 완료 처리만으로는 오르지 않음</a:t>
            </a:r>
            <a:endParaRPr lang="en-US" sz="1050" dirty="0"/>
          </a:p>
        </p:txBody>
      </p:sp>
      <p:pic>
        <p:nvPicPr>
          <p:cNvPr id="6" name="Image 1" descr="daily_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0"/>
            <a:ext cx="4069080" cy="45171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A3B52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406640" y="59893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일자별 운영 기록 → 날짜 클릭 = 일일 보고서 출력(PDF)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후에도 조건이 지속되면 ‘효과 없음’으로 이력에 남기고 자동 재오픈 · 3회 반복 시 근본 원인 조치 권고 — 회차별로 누적되어 덮어써지지 않음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시연용 데모가 아니라 — 프로덕션 실측 데이터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81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123.5 PLT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P-BOX·오리콘 누계 (8/7~8/21)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47872" y="13258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1481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11,295 EA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685032" y="2194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모바일 입력 · 5초 자동 집계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47104" y="13258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FF3E8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84264" y="1481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+49%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84264" y="2194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일평균 처리량 9.8 → 14.6 PLT/일 (편차 관리 효과)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546336" y="13258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FF3E8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83496" y="1481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+33%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683496" y="2194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생산성 0.33 → 0.44 PLT/MH (누계 +12%)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20040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309360" y="320040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DF0F0"/>
          </a:solidFill>
          <a:ln w="12700">
            <a:solidFill>
              <a:srgbClr val="F0B9B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자동 경보 — 실제 사례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583680" y="39319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C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생산성 0.11 PLT/MH — 평균 대비 ▼69% 편차를 룰(R-30)이 자동 감지, 판단 센터 상신.
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C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확인(신규 투입·설비 대기) → 재배치 권고 조치 문안 자동 생성.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83680" y="5303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전표였다면 월마감 때에야 보였을 편차 — 지금은 5초 집계 즉시 잡힙니다.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D1 work_records 22건 · 8/7 가동 시작 — 모든 수치는 시스템 로그로 검증 가능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 6대 KPI — 목표 대비 현황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1554480"/>
                <a:gridCol w="51206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55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성과지표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55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55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55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근거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[1] 인시생산성 (PLT/MH)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+3%↑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6F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+12% ✓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78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누계 0.33→0.37 · 2주차 단독 0.44 (+33%) · 일평균 +49%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[2] 사전 탐지 → 당일 조치율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940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실계산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78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 추적 보드 — 완료 처리 즉시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[3] 안전점검 실시율·폭염 통보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6F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 ✓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78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젠키퍼 TBM 자동 알림 · 히트워치 푸시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[4] 지연오더 사전 인지율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6F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산출 ✓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78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주간계획+실적 업로드 시 전건 자동 취합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[5] 반복 업무 절감 (관리자 1인)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30h↑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6F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33h+ ✓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78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 60분→5분 · 지연오더 주2h→자동 · 수기 일2~3h→15분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[6] 판단 기준 룰 코드화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30개↑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6F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32개 ✓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678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룰 카탈로그 탭 — 조건·임계값·조치 명문화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지표 달성 · 조치율은 운영 데이터로 실계산 중 — 플랫폼 [성과지표] 탭에서 실시간 확인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방식은 계획서 명기 그대로 — 실적·시스템 로그 대비 / 룰 등록 현황 / 적용 전·후 소요시간 실측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 · 숫자로 증명된 성과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빠르게, 더 많이, 더 싸게 —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 모두 실측으로.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17,280×</a:t>
            </a:r>
            <a:endParaRPr lang="en-US" sz="53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리드타임 단축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취합 1일(86,400초) → 5초 실시간 자동 집계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17720" y="30632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+33%</a:t>
            </a:r>
            <a:endParaRPr lang="en-US" sz="5300" dirty="0"/>
          </a:p>
        </p:txBody>
      </p:sp>
      <p:sp>
        <p:nvSpPr>
          <p:cNvPr id="8" name="Text 6"/>
          <p:cNvSpPr/>
          <p:nvPr/>
        </p:nvSpPr>
        <p:spPr>
          <a:xfrm>
            <a:off x="4617720" y="4160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인시생산성 향상 (2주차)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4617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0.33 → 0.44 PLT/MH 주 단독 · 누계 +12% — D1 실측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0" y="30632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1,000만원+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8412480" y="4160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절감 효과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4617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400h+ 자동화 × 인건비 환산 · AI 운영비 0원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취합하는 사람에서, </a:t>
            </a:r>
            <a:pPr indent="0" marL="0">
              <a:buNone/>
            </a:pPr>
            <a:r>
              <a:rPr lang="en-US" sz="2100" b="1" i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판단하는 사람으로.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868680" y="1463040"/>
            <a:ext cx="457200" cy="457200"/>
          </a:xfrm>
          <a:prstGeom prst="ellipse">
            <a:avLst/>
          </a:prstGeom>
          <a:solidFill>
            <a:srgbClr val="233B5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54480" y="1399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검증 지속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8562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8/7 가동 이후 D1 프로덕션 축적 중 — 주차별 생산성·조치율 실측 리포트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457200" cy="457200"/>
          </a:xfrm>
          <a:prstGeom prst="ellipse">
            <a:avLst/>
          </a:prstGeom>
          <a:solidFill>
            <a:srgbClr val="233B5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연동 — 4종 가동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9992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간접작업 실적 · 세척실 · 기상 실황 · 창고 적치를 60초 주기로 직접 수신 — 다음은 생산·품질 실측 연동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233B5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685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공유·확산 협조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422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우수사례 선정 시 결과물·활용 사례 사내 공유 — 타 현장 도입 지원 (계획서 확약)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2E46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앱 → 플랫폼 자동 집계 → AI 판단 → 조치까지, </a:t>
            </a:r>
            <a:pPr indent="0" marL="0">
              <a:buNone/>
            </a:pPr>
            <a:r>
              <a:rPr lang="en-US" sz="20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흐름.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93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제니엘 제조사업부 사업3팀 · 2026 제2회 ZAIC  —  데모: ZEN_Manufacturing_Platform.html · 데모 영상 5:47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2026-08-23T16:15:31Z</dcterms:created>
  <dcterms:modified xsi:type="dcterms:W3CDTF">2026-08-23T16:15:31Z</dcterms:modified>
</cp:coreProperties>
</file>