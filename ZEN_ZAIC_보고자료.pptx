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B2736"/>
                </a:solidFill>
                <a:latin typeface="Malgun Gothic"/>
              </a:defRPr>
            </a:pPr>
            <a:r>
              <a:rPr sz="1200" b="0" i="0" u="none" strike="noStrike">
                <a:solidFill>
                  <a:srgbClr val="1B2736"/>
                </a:solidFill>
                <a:latin typeface="Malgun Gothic"/>
              </a:rPr>
              <a:t>주차별 인시생산성 — D1 work_records 실측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인시생산성 (PLT/MH)</c:v>
                </c:pt>
              </c:strCache>
            </c:strRef>
          </c:tx>
          <c:spPr>
            <a:solidFill>
              <a:srgbClr val="1D3A5F">
                <a:alpha val="100000"/>
              </a:srgbClr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2736"/>
                    </a:solidFill>
                    <a:latin typeface="Malgun Gothic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D3A5F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AA864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가동 1주차 (8/7~14)</c:v>
                  </c:pt>
                  <c:pt idx="1">
                    <c:v>가동 2주차 (8/15~21)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0.33</c:v>
                </c:pt>
                <c:pt idx="1">
                  <c:v>0.37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200" u="none">
                  <a:solidFill>
                    <a:srgbClr val="1B2736"/>
                  </a:solidFill>
                  <a:latin typeface="Malgun Gothic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6788F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5"/>
          <c:min val="0"/>
        </c:scaling>
        <c:delete val="0"/>
        <c:axPos val="l"/>
        <c:majorGridlines>
          <c:spPr>
            <a:ln w="6350" cap="flat">
              <a:solidFill>
                <a:srgbClr val="E2E9F3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6788F"/>
                </a:solidFill>
                <a:latin typeface="Malgun Gothic"/>
              </a:defRPr>
            </a:pPr>
            <a:endParaRPr lang="en-US"/>
          </a:p>
        </c:txPr>
        <c:crossAx val="2094734554"/>
        <c:crosses val="autoZero"/>
        <c:crossBetween val="between"/>
        <c:majorUnit val="0.15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28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8686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8FD8B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 제2회 ZAIC · Zeniel GenAI Challenge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77240" y="1554480"/>
            <a:ext cx="1060704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6600"/>
              </a:lnSpc>
              <a:buNone/>
            </a:pPr>
            <a:r>
              <a:rPr lang="en-US" sz="5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데이터가 아니라,
</a:t>
            </a:r>
            <a:pPr indent="0" marL="0">
              <a:lnSpc>
                <a:spcPts val="6600"/>
              </a:lnSpc>
              <a:buNone/>
            </a:pPr>
            <a:r>
              <a:rPr lang="en-US" sz="5400" b="1" dirty="0">
                <a:solidFill>
                  <a:srgbClr val="8FD8B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‘판단’</a:t>
            </a:r>
            <a:pPr indent="0" marL="0">
              <a:lnSpc>
                <a:spcPts val="6600"/>
              </a:lnSpc>
              <a:buNone/>
            </a:pPr>
            <a:r>
              <a:rPr lang="en-US" sz="5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을 자동화한다.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822960" y="38862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A6BA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ZEN Manufacturing Platform — 제조 현장 통합 운영 AI Agent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822960" y="4846320"/>
            <a:ext cx="2011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8FD8B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822960" y="562356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A6BA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Agent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3200400" y="4846320"/>
            <a:ext cx="2011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8FD8B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32</a:t>
            </a:r>
            <a:endParaRPr lang="en-US" sz="4800" dirty="0"/>
          </a:p>
        </p:txBody>
      </p:sp>
      <p:sp>
        <p:nvSpPr>
          <p:cNvPr id="8" name="Text 6"/>
          <p:cNvSpPr/>
          <p:nvPr/>
        </p:nvSpPr>
        <p:spPr>
          <a:xfrm>
            <a:off x="3200400" y="562356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A6BA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코드화 판단 룰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577840" y="4846320"/>
            <a:ext cx="2011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8FD8B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4800" dirty="0"/>
          </a:p>
        </p:txBody>
      </p:sp>
      <p:sp>
        <p:nvSpPr>
          <p:cNvPr id="10" name="Text 8"/>
          <p:cNvSpPr/>
          <p:nvPr/>
        </p:nvSpPr>
        <p:spPr>
          <a:xfrm>
            <a:off x="5577840" y="562356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A6BA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실연동 시스템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822960" y="626364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B93B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제니엘 제조사업부 사업3팀 · AP 대전공장 (아모레퍼시픽 협업 현장)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7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매일 반복되는 수기 취합 — 구조적 문제 5가지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94360" y="1399032"/>
            <a:ext cx="475488" cy="475488"/>
          </a:xfrm>
          <a:prstGeom prst="ellipse">
            <a:avLst/>
          </a:prstGeom>
          <a:solidFill>
            <a:srgbClr val="F4F7FB"/>
          </a:solidFill>
          <a:ln w="12700">
            <a:solidFill>
              <a:srgbClr val="E2E9F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1399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D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280160" y="1325880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7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분산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3474720" y="1325880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생산·인력·세척·안전·폭염 정보가 개별 엑셀 — 매일 수기 합산 후에야 현황 파악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94360" y="2295144"/>
            <a:ext cx="475488" cy="475488"/>
          </a:xfrm>
          <a:prstGeom prst="ellipse">
            <a:avLst/>
          </a:prstGeom>
          <a:solidFill>
            <a:srgbClr val="F4F7FB"/>
          </a:solidFill>
          <a:ln w="12700">
            <a:solidFill>
              <a:srgbClr val="E2E9F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4360" y="229514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D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280160" y="2221992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7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보고 수작업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3474720" y="2221992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일일·주간·월마감 보고를 직접 취합·계산·작성 — 1건 약 60분, 매일 반복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94360" y="3191256"/>
            <a:ext cx="475488" cy="475488"/>
          </a:xfrm>
          <a:prstGeom prst="ellipse">
            <a:avLst/>
          </a:prstGeom>
          <a:solidFill>
            <a:srgbClr val="F4F7FB"/>
          </a:solidFill>
          <a:ln w="12700">
            <a:solidFill>
              <a:srgbClr val="E2E9F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94360" y="319125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D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280160" y="3118104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7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이상 누락·지연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3474720" y="3118104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지연오더·생산성 편차·폭염 경보를 수기 확인에 의존 — 발견 지연·누락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94360" y="4087368"/>
            <a:ext cx="475488" cy="475488"/>
          </a:xfrm>
          <a:prstGeom prst="ellipse">
            <a:avLst/>
          </a:prstGeom>
          <a:solidFill>
            <a:srgbClr val="F4F7FB"/>
          </a:solidFill>
          <a:ln w="12700">
            <a:solidFill>
              <a:srgbClr val="E2E9F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" y="408736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D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280160" y="4014216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7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반복 계산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3474720" y="4014216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공동작업 분배·부하율·필요 T/O·맨아워를 매회 수기 산출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94360" y="4983480"/>
            <a:ext cx="475488" cy="475488"/>
          </a:xfrm>
          <a:prstGeom prst="ellipse">
            <a:avLst/>
          </a:prstGeom>
          <a:solidFill>
            <a:srgbClr val="F4F7FB"/>
          </a:solidFill>
          <a:ln w="12700">
            <a:solidFill>
              <a:srgbClr val="E2E9F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" y="498348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D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⑤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280160" y="4910328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7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담당자 의존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3474720" y="4910328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판단 기준이 관리자 개인 경험에 내재 — 인수인계·확산 불가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9006840" y="1417320"/>
            <a:ext cx="2697480" cy="1234440"/>
          </a:xfrm>
          <a:prstGeom prst="roundRect">
            <a:avLst>
              <a:gd name="adj" fmla="val 6667"/>
            </a:avLst>
          </a:prstGeom>
          <a:solidFill>
            <a:srgbClr val="F4F7FB"/>
          </a:solidFill>
          <a:ln w="12700">
            <a:solidFill>
              <a:srgbClr val="E2E9F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006840" y="1554480"/>
            <a:ext cx="2697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D645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60분</a:t>
            </a:r>
            <a:endParaRPr lang="en-US" sz="2900" dirty="0"/>
          </a:p>
        </p:txBody>
      </p:sp>
      <p:sp>
        <p:nvSpPr>
          <p:cNvPr id="25" name="Text 23"/>
          <p:cNvSpPr/>
          <p:nvPr/>
        </p:nvSpPr>
        <p:spPr>
          <a:xfrm>
            <a:off x="9006840" y="2148840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보고 1건 · 매일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9006840" y="2898648"/>
            <a:ext cx="2697480" cy="1234440"/>
          </a:xfrm>
          <a:prstGeom prst="roundRect">
            <a:avLst>
              <a:gd name="adj" fmla="val 6667"/>
            </a:avLst>
          </a:prstGeom>
          <a:solidFill>
            <a:srgbClr val="F4F7FB"/>
          </a:solidFill>
          <a:ln w="12700">
            <a:solidFill>
              <a:srgbClr val="E2E9F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006840" y="3035808"/>
            <a:ext cx="2697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D645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 2시간</a:t>
            </a:r>
            <a:endParaRPr lang="en-US" sz="2900" dirty="0"/>
          </a:p>
        </p:txBody>
      </p:sp>
      <p:sp>
        <p:nvSpPr>
          <p:cNvPr id="28" name="Text 26"/>
          <p:cNvSpPr/>
          <p:nvPr/>
        </p:nvSpPr>
        <p:spPr>
          <a:xfrm>
            <a:off x="9006840" y="3630168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지연오더 취합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9006840" y="4379976"/>
            <a:ext cx="2697480" cy="1234440"/>
          </a:xfrm>
          <a:prstGeom prst="roundRect">
            <a:avLst>
              <a:gd name="adj" fmla="val 6667"/>
            </a:avLst>
          </a:prstGeom>
          <a:solidFill>
            <a:srgbClr val="F4F7FB"/>
          </a:solidFill>
          <a:ln w="12700">
            <a:solidFill>
              <a:srgbClr val="E2E9F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006840" y="4517136"/>
            <a:ext cx="2697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D645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 2~3시간</a:t>
            </a:r>
            <a:endParaRPr lang="en-US" sz="2900" dirty="0"/>
          </a:p>
        </p:txBody>
      </p:sp>
      <p:sp>
        <p:nvSpPr>
          <p:cNvPr id="31" name="Text 29"/>
          <p:cNvSpPr/>
          <p:nvPr/>
        </p:nvSpPr>
        <p:spPr>
          <a:xfrm>
            <a:off x="9006840" y="5111496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기타 수기 작업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502920" y="6473952"/>
            <a:ext cx="111831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 — 2026 ZAIC 과제수행 계획서 · 다품종 교대 운영 도급 현장 공통의 구조적 문제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7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구조 — 현장 앱에서 판단·조치까지, 하나의 흐름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554480"/>
            <a:ext cx="2606040" cy="1920240"/>
          </a:xfrm>
          <a:prstGeom prst="roundRect">
            <a:avLst>
              <a:gd name="adj" fmla="val 4762"/>
            </a:avLst>
          </a:prstGeom>
          <a:solidFill>
            <a:srgbClr val="F4F7FB"/>
          </a:solidFill>
          <a:ln w="12700">
            <a:solidFill>
              <a:srgbClr val="E2E9F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178308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B27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 앱 6개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731520" y="2286000"/>
            <a:ext cx="2240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젠키퍼 · 히트워치 · 오리콘/P-BOX · 세척실 · 창고 · 월마감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3127248" y="22402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AA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3547872" y="1554480"/>
            <a:ext cx="2606040" cy="1920240"/>
          </a:xfrm>
          <a:prstGeom prst="roundRect">
            <a:avLst>
              <a:gd name="adj" fmla="val 4762"/>
            </a:avLst>
          </a:prstGeom>
          <a:solidFill>
            <a:srgbClr val="EDF3FA"/>
          </a:solidFill>
          <a:ln w="12700">
            <a:solidFill>
              <a:srgbClr val="E2E9F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730752" y="178308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D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 집계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3730752" y="2286000"/>
            <a:ext cx="2240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5초 주기 · 다기기 · 공동작업 자동 분배 (D1 프로덕션)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126480" y="22402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AA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600" dirty="0"/>
          </a:p>
        </p:txBody>
      </p:sp>
      <p:sp>
        <p:nvSpPr>
          <p:cNvPr id="11" name="Shape 9"/>
          <p:cNvSpPr/>
          <p:nvPr/>
        </p:nvSpPr>
        <p:spPr>
          <a:xfrm>
            <a:off x="6547104" y="1554480"/>
            <a:ext cx="2606040" cy="1920240"/>
          </a:xfrm>
          <a:prstGeom prst="roundRect">
            <a:avLst>
              <a:gd name="adj" fmla="val 4762"/>
            </a:avLst>
          </a:prstGeom>
          <a:solidFill>
            <a:srgbClr val="1D3A5F"/>
          </a:solidFill>
          <a:ln w="12700">
            <a:solidFill>
              <a:srgbClr val="1D3A5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729984" y="178308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AI Agent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6729984" y="2286000"/>
            <a:ext cx="2240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A6BA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생산·계획 / 인력 / 세척 / 창고 / 간접 / 품질 / 안전 / 분석·보고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9125712" y="22402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AA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600" dirty="0"/>
          </a:p>
        </p:txBody>
      </p:sp>
      <p:sp>
        <p:nvSpPr>
          <p:cNvPr id="15" name="Shape 13"/>
          <p:cNvSpPr/>
          <p:nvPr/>
        </p:nvSpPr>
        <p:spPr>
          <a:xfrm>
            <a:off x="9546336" y="1554480"/>
            <a:ext cx="2606040" cy="1920240"/>
          </a:xfrm>
          <a:prstGeom prst="roundRect">
            <a:avLst>
              <a:gd name="adj" fmla="val 4762"/>
            </a:avLst>
          </a:prstGeom>
          <a:solidFill>
            <a:srgbClr val="DFF3E8"/>
          </a:solidFill>
          <a:ln w="12700">
            <a:solidFill>
              <a:srgbClr val="E2E9F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729216" y="178308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76F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판단 → 조치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9729216" y="2286000"/>
            <a:ext cx="2240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룰 32개 자동 판단 · 조치 문안 생성 · 미조치 재알림 · 운영 기록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48640" y="3977640"/>
            <a:ext cx="11091672" cy="2011680"/>
          </a:xfrm>
          <a:prstGeom prst="roundRect">
            <a:avLst>
              <a:gd name="adj" fmla="val 4545"/>
            </a:avLst>
          </a:prstGeom>
          <a:solidFill>
            <a:srgbClr val="F4F7FB"/>
          </a:solidFill>
          <a:ln w="12700">
            <a:solidFill>
              <a:srgbClr val="E2E9F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68680" y="420624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7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판단은 전부 ‘코드화된 규칙’ — LLM 토큰 소비 없음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868680" y="4754880"/>
            <a:ext cx="10424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임계값·산식이 명문화된 룰 32개가 실측 데이터로 즉시 계산 — 폐쇄망에서도 동작, 운영비 0원, 모든 판단의 근거 추적 가능(감사 대응).  </a:t>
            </a:r>
            <a:pPr indent="0" marL="0">
              <a:lnSpc>
                <a:spcPts val="2000"/>
              </a:lnSpc>
              <a:buNone/>
            </a:pPr>
            <a:r>
              <a:rPr lang="en-US" sz="1350" b="1" dirty="0">
                <a:solidFill>
                  <a:srgbClr val="176F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관리자 경험 → 정량 룰 이식으로 신규 관리자도 동일 판단 재현.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502920" y="6473952"/>
            <a:ext cx="111831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화면·시스템 통합이 목적이 아니라 ‘판단 자동화’가 목적 — 기존 시스템은 데이터 소스로 무변경 연결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7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통합 관제 — 로그인 첫 화면이 곧 ‘결정’</a:t>
            </a:r>
            <a:endParaRPr lang="en-US" sz="3000" dirty="0"/>
          </a:p>
        </p:txBody>
      </p:sp>
      <p:pic>
        <p:nvPicPr>
          <p:cNvPr id="3" name="Image 0" descr="v8_ho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280160"/>
            <a:ext cx="7452360" cy="4654296"/>
          </a:xfrm>
          <a:prstGeom prst="rect">
            <a:avLst/>
          </a:prstGeom>
          <a:effectLst>
            <a:outerShdw sx="100000" sy="100000" kx="0" ky="0" algn="bl" rotWithShape="0" blurRad="101600" dist="38100" dir="5400000">
              <a:srgbClr val="2A3B52">
                <a:alpha val="35000"/>
              </a:srgbClr>
            </a:outerShdw>
          </a:effectLst>
        </p:spPr>
      </p:pic>
      <p:sp>
        <p:nvSpPr>
          <p:cNvPr id="4" name="Shape 1"/>
          <p:cNvSpPr/>
          <p:nvPr/>
        </p:nvSpPr>
        <p:spPr>
          <a:xfrm>
            <a:off x="8229600" y="1463040"/>
            <a:ext cx="365760" cy="365760"/>
          </a:xfrm>
          <a:prstGeom prst="ellipse">
            <a:avLst/>
          </a:prstGeom>
          <a:solidFill>
            <a:srgbClr val="DFF3E8"/>
          </a:solidFill>
          <a:ln/>
        </p:spPr>
      </p:sp>
      <p:sp>
        <p:nvSpPr>
          <p:cNvPr id="5" name="Text 2"/>
          <p:cNvSpPr/>
          <p:nvPr/>
        </p:nvSpPr>
        <p:spPr>
          <a:xfrm>
            <a:off x="8229600" y="14630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76F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8732520" y="141732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B27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→ 4 결정 흐름</a:t>
            </a:r>
            <a:endParaRPr lang="en-US" sz="1550" dirty="0"/>
          </a:p>
        </p:txBody>
      </p:sp>
      <p:sp>
        <p:nvSpPr>
          <p:cNvPr id="7" name="Text 4"/>
          <p:cNvSpPr/>
          <p:nvPr/>
        </p:nvSpPr>
        <p:spPr>
          <a:xfrm>
            <a:off x="8732520" y="1847088"/>
            <a:ext cx="3063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상태 → 위험 예측 → AI 판단 → 조치 실행 — 화면 순서가 업무 순서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8229600" y="3017520"/>
            <a:ext cx="365760" cy="365760"/>
          </a:xfrm>
          <a:prstGeom prst="ellipse">
            <a:avLst/>
          </a:prstGeom>
          <a:solidFill>
            <a:srgbClr val="DFF3E8"/>
          </a:solidFill>
          <a:ln/>
        </p:spPr>
      </p:sp>
      <p:sp>
        <p:nvSpPr>
          <p:cNvPr id="9" name="Text 6"/>
          <p:cNvSpPr/>
          <p:nvPr/>
        </p:nvSpPr>
        <p:spPr>
          <a:xfrm>
            <a:off x="8229600" y="30175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76F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8732520" y="297180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B27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최우선 1건 집중</a:t>
            </a:r>
            <a:endParaRPr lang="en-US" sz="1550" dirty="0"/>
          </a:p>
        </p:txBody>
      </p:sp>
      <p:sp>
        <p:nvSpPr>
          <p:cNvPr id="11" name="Text 8"/>
          <p:cNvSpPr/>
          <p:nvPr/>
        </p:nvSpPr>
        <p:spPr>
          <a:xfrm>
            <a:off x="8732520" y="3401568"/>
            <a:ext cx="3063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가장 급한 판단 1건과 권고 조치를 첫 화면에서 바로 제시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8229600" y="4572000"/>
            <a:ext cx="365760" cy="365760"/>
          </a:xfrm>
          <a:prstGeom prst="ellipse">
            <a:avLst/>
          </a:prstGeom>
          <a:solidFill>
            <a:srgbClr val="DFF3E8"/>
          </a:solidFill>
          <a:ln/>
        </p:spPr>
      </p:sp>
      <p:sp>
        <p:nvSpPr>
          <p:cNvPr id="13" name="Text 10"/>
          <p:cNvSpPr/>
          <p:nvPr/>
        </p:nvSpPr>
        <p:spPr>
          <a:xfrm>
            <a:off x="8229600" y="4572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76F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8732520" y="452628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B27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원클릭 실행</a:t>
            </a:r>
            <a:endParaRPr lang="en-US" sz="1550" dirty="0"/>
          </a:p>
        </p:txBody>
      </p:sp>
      <p:sp>
        <p:nvSpPr>
          <p:cNvPr id="15" name="Text 12"/>
          <p:cNvSpPr/>
          <p:nvPr/>
        </p:nvSpPr>
        <p:spPr>
          <a:xfrm>
            <a:off x="8732520" y="4956048"/>
            <a:ext cx="3063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[조치 승인] 클릭 즉시 완료 처리·이력 기록 — 성과지표 조치율에 실시간 반영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502920" y="6473952"/>
            <a:ext cx="111831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메뉴 6개(CONTROL·PREDICT·ACTION·OPERATIONS·PERFORMANCE·MANAGEMENT) — 역할별 권한 분리 · 비밀번호 검증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7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기준의 코드화 — 판단 룰 32개, 화면으로 증명</a:t>
            </a:r>
            <a:endParaRPr lang="en-US" sz="3000" dirty="0"/>
          </a:p>
        </p:txBody>
      </p:sp>
      <p:pic>
        <p:nvPicPr>
          <p:cNvPr id="3" name="Image 0" descr="j_rul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280160"/>
            <a:ext cx="7452360" cy="4654296"/>
          </a:xfrm>
          <a:prstGeom prst="rect">
            <a:avLst/>
          </a:prstGeom>
          <a:effectLst>
            <a:outerShdw sx="100000" sy="100000" kx="0" ky="0" algn="bl" rotWithShape="0" blurRad="101600" dist="38100" dir="5400000">
              <a:srgbClr val="2A3B52">
                <a:alpha val="35000"/>
              </a:srgbClr>
            </a:outerShdw>
          </a:effectLst>
        </p:spPr>
      </p:pic>
      <p:sp>
        <p:nvSpPr>
          <p:cNvPr id="4" name="Shape 1"/>
          <p:cNvSpPr/>
          <p:nvPr/>
        </p:nvSpPr>
        <p:spPr>
          <a:xfrm>
            <a:off x="8229600" y="1463040"/>
            <a:ext cx="365760" cy="365760"/>
          </a:xfrm>
          <a:prstGeom prst="ellipse">
            <a:avLst/>
          </a:prstGeom>
          <a:solidFill>
            <a:srgbClr val="EDF3FA"/>
          </a:solidFill>
          <a:ln/>
        </p:spPr>
      </p:sp>
      <p:sp>
        <p:nvSpPr>
          <p:cNvPr id="5" name="Text 2"/>
          <p:cNvSpPr/>
          <p:nvPr/>
        </p:nvSpPr>
        <p:spPr>
          <a:xfrm>
            <a:off x="8229600" y="14630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D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8732520" y="141732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7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조건 · 임계값 · 조치 명문화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8732520" y="1847088"/>
            <a:ext cx="3108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부하율&gt;140% · 적치율≥100% · WBGT 단계 · 편차&gt;40% 등 — 관리자 경험을 정량 룰로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8229600" y="3017520"/>
            <a:ext cx="365760" cy="365760"/>
          </a:xfrm>
          <a:prstGeom prst="ellipse">
            <a:avLst/>
          </a:prstGeom>
          <a:solidFill>
            <a:srgbClr val="EDF3FA"/>
          </a:solidFill>
          <a:ln/>
        </p:spPr>
      </p:sp>
      <p:sp>
        <p:nvSpPr>
          <p:cNvPr id="9" name="Text 6"/>
          <p:cNvSpPr/>
          <p:nvPr/>
        </p:nvSpPr>
        <p:spPr>
          <a:xfrm>
            <a:off x="8229600" y="30175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D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8732520" y="297180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7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 발동 중인 룰 표시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8732520" y="3401568"/>
            <a:ext cx="3108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실측 데이터와 실시간 대조 — 초록 행 = 현재 발동 중 (시연에서 바로 확인)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8229600" y="4572000"/>
            <a:ext cx="365760" cy="365760"/>
          </a:xfrm>
          <a:prstGeom prst="ellipse">
            <a:avLst/>
          </a:prstGeom>
          <a:solidFill>
            <a:srgbClr val="EDF3FA"/>
          </a:solidFill>
          <a:ln/>
        </p:spPr>
      </p:sp>
      <p:sp>
        <p:nvSpPr>
          <p:cNvPr id="13" name="Text 10"/>
          <p:cNvSpPr/>
          <p:nvPr/>
        </p:nvSpPr>
        <p:spPr>
          <a:xfrm>
            <a:off x="8229600" y="4572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D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8732520" y="452628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7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임계값 주기 보정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8732520" y="4956048"/>
            <a:ext cx="3108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오탐·미탐 이력과 현장 수정 사유를 반영해 룰을 계속 학습·보정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502920" y="6473952"/>
            <a:ext cx="111831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계획서 KPI [6] ‘판단 기준 룰 30개 이상 코드화’ — 32개로 초과 달성 · 신규 관리자도 동일 판단 재현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7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통보에서 끝나지 않는다 — 조치 추적 · 운영 기록</a:t>
            </a:r>
            <a:endParaRPr lang="en-US" sz="3000" dirty="0"/>
          </a:p>
        </p:txBody>
      </p:sp>
      <p:pic>
        <p:nvPicPr>
          <p:cNvPr id="3" name="Image 0" descr="t_menu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371600"/>
            <a:ext cx="6492240" cy="4059936"/>
          </a:xfrm>
          <a:prstGeom prst="rect">
            <a:avLst/>
          </a:prstGeom>
          <a:effectLst>
            <a:outerShdw sx="100000" sy="100000" kx="0" ky="0" algn="bl" rotWithShape="0" blurRad="101600" dist="38100" dir="5400000">
              <a:srgbClr val="2A3B52">
                <a:alpha val="35000"/>
              </a:srgbClr>
            </a:outerShdw>
          </a:effectLst>
        </p:spPr>
      </p:pic>
      <p:sp>
        <p:nvSpPr>
          <p:cNvPr id="4" name="Text 1"/>
          <p:cNvSpPr/>
          <p:nvPr/>
        </p:nvSpPr>
        <p:spPr>
          <a:xfrm>
            <a:off x="502920" y="5532120"/>
            <a:ext cx="6492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B27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탐지 → 조치 → 결과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502920" y="5833872"/>
            <a:ext cx="64922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조치 문안 자동 생성·복사 · 미조치 자동 재알림 · 조치율 실계산(목표 90%)</a:t>
            </a:r>
            <a:endParaRPr lang="en-US" sz="1050" dirty="0"/>
          </a:p>
        </p:txBody>
      </p:sp>
      <p:pic>
        <p:nvPicPr>
          <p:cNvPr id="6" name="Image 1" descr="daily_repor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0" y="1371600"/>
            <a:ext cx="4069080" cy="4517136"/>
          </a:xfrm>
          <a:prstGeom prst="rect">
            <a:avLst/>
          </a:prstGeom>
          <a:effectLst>
            <a:outerShdw sx="100000" sy="100000" kx="0" ky="0" algn="bl" rotWithShape="0" blurRad="101600" dist="38100" dir="5400000">
              <a:srgbClr val="2A3B52">
                <a:alpha val="35000"/>
              </a:srgbClr>
            </a:outerShdw>
          </a:effectLst>
        </p:spPr>
      </p:pic>
      <p:sp>
        <p:nvSpPr>
          <p:cNvPr id="7" name="Text 3"/>
          <p:cNvSpPr/>
          <p:nvPr/>
        </p:nvSpPr>
        <p:spPr>
          <a:xfrm>
            <a:off x="7406640" y="5989320"/>
            <a:ext cx="4069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7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일자별 운영 기록 → 날짜 클릭 = 일일 보고서 출력(PDF)</a:t>
            </a:r>
            <a:endParaRPr lang="en-US" sz="1100" dirty="0"/>
          </a:p>
        </p:txBody>
      </p:sp>
      <p:sp>
        <p:nvSpPr>
          <p:cNvPr id="8" name="Text 4"/>
          <p:cNvSpPr/>
          <p:nvPr/>
        </p:nvSpPr>
        <p:spPr>
          <a:xfrm>
            <a:off x="502920" y="6473952"/>
            <a:ext cx="111831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가동일(8/7)부터 전 이력 축적 — 인수인계·감사 대응: 누가 언제 무엇을 판단·조치했는지 재현 가능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7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시연용 데모가 아니라 — 프로덕션 실측 데이터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2651760" cy="1554480"/>
          </a:xfrm>
          <a:prstGeom prst="roundRect">
            <a:avLst>
              <a:gd name="adj" fmla="val 5882"/>
            </a:avLst>
          </a:prstGeom>
          <a:solidFill>
            <a:srgbClr val="F4F7FB"/>
          </a:solidFill>
          <a:ln w="12700">
            <a:solidFill>
              <a:srgbClr val="E2E9F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1481328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D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123.5 PLT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685800" y="2194560"/>
            <a:ext cx="2423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P-BOX·오리콘 누계 (8/7~8/21)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547872" y="1325880"/>
            <a:ext cx="2651760" cy="1554480"/>
          </a:xfrm>
          <a:prstGeom prst="roundRect">
            <a:avLst>
              <a:gd name="adj" fmla="val 5882"/>
            </a:avLst>
          </a:prstGeom>
          <a:solidFill>
            <a:srgbClr val="F4F7FB"/>
          </a:solidFill>
          <a:ln w="12700">
            <a:solidFill>
              <a:srgbClr val="E2E9F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85032" y="1481328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D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11,295 EA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3685032" y="2194560"/>
            <a:ext cx="2423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작업자 모바일 입력 · 5초 자동 집계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547104" y="1325880"/>
            <a:ext cx="2651760" cy="1554480"/>
          </a:xfrm>
          <a:prstGeom prst="roundRect">
            <a:avLst>
              <a:gd name="adj" fmla="val 5882"/>
            </a:avLst>
          </a:prstGeom>
          <a:solidFill>
            <a:srgbClr val="F4F7FB"/>
          </a:solidFill>
          <a:ln w="12700">
            <a:solidFill>
              <a:srgbClr val="E2E9F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684264" y="1481328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D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341.9 MH</a:t>
            </a:r>
            <a:endParaRPr lang="en-US" sz="2700" dirty="0"/>
          </a:p>
        </p:txBody>
      </p:sp>
      <p:sp>
        <p:nvSpPr>
          <p:cNvPr id="11" name="Text 9"/>
          <p:cNvSpPr/>
          <p:nvPr/>
        </p:nvSpPr>
        <p:spPr>
          <a:xfrm>
            <a:off x="6684264" y="2194560"/>
            <a:ext cx="2423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공동작업 인원수 자동 분배 포함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9546336" y="1325880"/>
            <a:ext cx="2651760" cy="1554480"/>
          </a:xfrm>
          <a:prstGeom prst="roundRect">
            <a:avLst>
              <a:gd name="adj" fmla="val 5882"/>
            </a:avLst>
          </a:prstGeom>
          <a:solidFill>
            <a:srgbClr val="DFF3E8"/>
          </a:solidFill>
          <a:ln w="12700">
            <a:solidFill>
              <a:srgbClr val="E2E9F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683496" y="1481328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76F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+12%</a:t>
            </a:r>
            <a:endParaRPr lang="en-US" sz="2700" dirty="0"/>
          </a:p>
        </p:txBody>
      </p:sp>
      <p:sp>
        <p:nvSpPr>
          <p:cNvPr id="14" name="Text 12"/>
          <p:cNvSpPr/>
          <p:nvPr/>
        </p:nvSpPr>
        <p:spPr>
          <a:xfrm>
            <a:off x="9683496" y="2194560"/>
            <a:ext cx="2423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인시생산성 0.33 → 0.37 PLT/MH (목표 +3%)</a:t>
            </a:r>
            <a:endParaRPr lang="en-US" sz="105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48640" y="3200400"/>
          <a:ext cx="5394960" cy="2834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Shape 13"/>
          <p:cNvSpPr/>
          <p:nvPr/>
        </p:nvSpPr>
        <p:spPr>
          <a:xfrm>
            <a:off x="6309360" y="3200400"/>
            <a:ext cx="5349240" cy="2834640"/>
          </a:xfrm>
          <a:prstGeom prst="roundRect">
            <a:avLst>
              <a:gd name="adj" fmla="val 3226"/>
            </a:avLst>
          </a:prstGeom>
          <a:solidFill>
            <a:srgbClr val="FDF0F0"/>
          </a:solidFill>
          <a:ln w="12700">
            <a:solidFill>
              <a:srgbClr val="F0B9B9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583680" y="342900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D645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이상치 자동 경보 — 실제 사례</a:t>
            </a:r>
            <a:endParaRPr lang="en-US" sz="1550" dirty="0"/>
          </a:p>
        </p:txBody>
      </p:sp>
      <p:sp>
        <p:nvSpPr>
          <p:cNvPr id="18" name="Text 15"/>
          <p:cNvSpPr/>
          <p:nvPr/>
        </p:nvSpPr>
        <p:spPr>
          <a:xfrm>
            <a:off x="6583680" y="3931920"/>
            <a:ext cx="48463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9C57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작업자 생산성 0.11 PLT/MH — 평균 대비 ▼69% 편차를 룰(R-30)이 자동 감지, 판단 센터 상신.
</a:t>
            </a:r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9C57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원인 확인(신규 투입·설비 대기) → 재배치 권고 조치 문안 자동 생성.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6583680" y="530352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i="1" dirty="0">
                <a:solidFill>
                  <a:srgbClr val="D645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수기 전표였다면 월마감 때에야 보였을 편차 — 지금은 5초 집계 즉시 잡힙니다.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502920" y="6473952"/>
            <a:ext cx="111831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Cloudflare D1 work_records 22건 · 8/7 가동 시작 — 모든 수치는 시스템 로그로 검증 가능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7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계획서 6대 KPI — 목표 대비 현황</a:t>
            </a:r>
            <a:endParaRPr lang="en-US" sz="30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325880"/>
          <a:ext cx="1115568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188720"/>
                <a:gridCol w="1554480"/>
                <a:gridCol w="512064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3D557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핵심 성과지표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3D557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목표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3D557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현황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3D557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검증 근거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9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7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[1] 인시생산성 (PLT/MH)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27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+3%↑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76F4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+12% ✓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6788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D1 실측 0.33→0.37 (주차별 로그)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7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[2] 사전 탐지 → 당일 조치율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27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90%↑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E8940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실계산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6788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조치 추적 보드 — 완료 처리 즉시 반영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7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[3] 안전점검 실시율·폭염 통보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27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100%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76F4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100% ✓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6788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젠키퍼 TBM 자동 알림 · 히트워치 푸시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7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[4] 지연오더 사전 인지율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27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90%↑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76F4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자동 산출 ✓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6788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주간계획+실적 업로드 시 전건 자동 취합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7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[5] 반복 업무 절감 (관리자 1인)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27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월 30h↑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76F4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월 33h+ ✓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6788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보고 60분→5분 · 지연오더 주2h→자동 · 수기 일2~3h→15분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7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[6] 판단 기준 룰 코드화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27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30개↑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76F4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32개 ✓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6788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판단 룰 카탈로그 탭 — 조건·임계값·조치 명문화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502920" y="6035040"/>
            <a:ext cx="11155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6F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5개 지표 달성 · 조치율은 운영 데이터로 실계산 중 — 플랫폼 [성과지표] 탭에서 실시간 확인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502920" y="6473952"/>
            <a:ext cx="111831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 방식은 계획서 명기 그대로 — 실적·시스템 로그 대비 / 룰 등록 현황 / 적용 전·후 소요시간 실측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628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00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8FD8B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RESULT · 숫자로 증명된 성과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822960" y="1143000"/>
            <a:ext cx="106070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4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더 빠르게, 더 많이, 더 싸게 —</a:t>
            </a:r>
            <a:endParaRPr lang="en-US" sz="3400" dirty="0"/>
          </a:p>
          <a:p>
            <a:pPr indent="0" marL="0">
              <a:lnSpc>
                <a:spcPts val="44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축 모두 실측으로.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822960" y="3063240"/>
            <a:ext cx="37033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300" b="1" dirty="0">
                <a:solidFill>
                  <a:srgbClr val="8FD8B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17,280×</a:t>
            </a:r>
            <a:endParaRPr lang="en-US" sz="5300" dirty="0"/>
          </a:p>
        </p:txBody>
      </p:sp>
      <p:sp>
        <p:nvSpPr>
          <p:cNvPr id="5" name="Text 3"/>
          <p:cNvSpPr/>
          <p:nvPr/>
        </p:nvSpPr>
        <p:spPr>
          <a:xfrm>
            <a:off x="822960" y="416052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집계 리드타임 단축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22960" y="4617720"/>
            <a:ext cx="3429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A6BA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수기 취합 1일(86,400초) → 5초 실시간 자동 집계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4617720" y="3063240"/>
            <a:ext cx="37033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300" b="1" dirty="0">
                <a:solidFill>
                  <a:srgbClr val="8FD8B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+12%</a:t>
            </a:r>
            <a:endParaRPr lang="en-US" sz="5300" dirty="0"/>
          </a:p>
        </p:txBody>
      </p:sp>
      <p:sp>
        <p:nvSpPr>
          <p:cNvPr id="8" name="Text 6"/>
          <p:cNvSpPr/>
          <p:nvPr/>
        </p:nvSpPr>
        <p:spPr>
          <a:xfrm>
            <a:off x="4617720" y="416052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인시생산성 향상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617720" y="4617720"/>
            <a:ext cx="3429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A6BA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0.33 → 0.37 PLT/MH · D1 실측 — 목표 +3%의 4배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8412480" y="3063240"/>
            <a:ext cx="37033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900" b="1" dirty="0">
                <a:solidFill>
                  <a:srgbClr val="8FD8B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1,000만원+</a:t>
            </a:r>
            <a:endParaRPr lang="en-US" sz="3900" dirty="0"/>
          </a:p>
        </p:txBody>
      </p:sp>
      <p:sp>
        <p:nvSpPr>
          <p:cNvPr id="11" name="Text 9"/>
          <p:cNvSpPr/>
          <p:nvPr/>
        </p:nvSpPr>
        <p:spPr>
          <a:xfrm>
            <a:off x="8412480" y="416052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연간 절감 효과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412480" y="4617720"/>
            <a:ext cx="3429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A6BA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 400h+ 자동화 × 인건비 환산 · AI 운영비 0원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22960" y="576072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i="1" dirty="0">
                <a:solidFill>
                  <a:srgbClr val="A6BA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취합하는 사람에서, </a:t>
            </a:r>
            <a:pPr indent="0" marL="0">
              <a:buNone/>
            </a:pPr>
            <a:r>
              <a:rPr lang="en-US" sz="2100" b="1" i="1" dirty="0">
                <a:solidFill>
                  <a:srgbClr val="8FD8B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판단하는 사람으로.</a:t>
            </a:r>
            <a:endParaRPr lang="en-US" sz="2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628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73152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8FD8B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단계</a:t>
            </a:r>
            <a:endParaRPr lang="en-US" sz="1500" dirty="0"/>
          </a:p>
        </p:txBody>
      </p:sp>
      <p:sp>
        <p:nvSpPr>
          <p:cNvPr id="3" name="Shape 1"/>
          <p:cNvSpPr/>
          <p:nvPr/>
        </p:nvSpPr>
        <p:spPr>
          <a:xfrm>
            <a:off x="868680" y="1463040"/>
            <a:ext cx="457200" cy="457200"/>
          </a:xfrm>
          <a:prstGeom prst="ellipse">
            <a:avLst/>
          </a:prstGeom>
          <a:solidFill>
            <a:srgbClr val="233B58"/>
          </a:solidFill>
          <a:ln/>
        </p:spPr>
      </p:sp>
      <p:sp>
        <p:nvSpPr>
          <p:cNvPr id="4" name="Text 2"/>
          <p:cNvSpPr/>
          <p:nvPr/>
        </p:nvSpPr>
        <p:spPr>
          <a:xfrm>
            <a:off x="868680" y="1463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8FD8B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554480" y="1399032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실데이터 검증 지속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554480" y="1856232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6BA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8/7 가동 이후 D1 프로덕션 축적 중 — 주차별 생산성·조치율 실측 리포트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868680" y="2606040"/>
            <a:ext cx="457200" cy="457200"/>
          </a:xfrm>
          <a:prstGeom prst="ellipse">
            <a:avLst/>
          </a:prstGeom>
          <a:solidFill>
            <a:srgbClr val="233B58"/>
          </a:solidFill>
          <a:ln/>
        </p:spPr>
      </p:sp>
      <p:sp>
        <p:nvSpPr>
          <p:cNvPr id="8" name="Text 6"/>
          <p:cNvSpPr/>
          <p:nvPr/>
        </p:nvSpPr>
        <p:spPr>
          <a:xfrm>
            <a:off x="868680" y="2606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8FD8B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554480" y="2542032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라이브 연동 확대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554480" y="2999232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6BA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통합 API Worker 배포 → 플랫폼 실시간 전환 · 세척실/오리콘 실배포 URL 연결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868680" y="3749040"/>
            <a:ext cx="457200" cy="457200"/>
          </a:xfrm>
          <a:prstGeom prst="ellipse">
            <a:avLst/>
          </a:prstGeom>
          <a:solidFill>
            <a:srgbClr val="233B58"/>
          </a:solidFill>
          <a:ln/>
        </p:spPr>
      </p:sp>
      <p:sp>
        <p:nvSpPr>
          <p:cNvPr id="12" name="Text 10"/>
          <p:cNvSpPr/>
          <p:nvPr/>
        </p:nvSpPr>
        <p:spPr>
          <a:xfrm>
            <a:off x="868680" y="3749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8FD8B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554480" y="3685032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 공유·확산 협조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42232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6BA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우수사례 선정 시 결과물·활용 사례 사내 공유 — 타 현장 도입 지원 (계획서 확약)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822960" y="5029200"/>
            <a:ext cx="10515600" cy="0"/>
          </a:xfrm>
          <a:prstGeom prst="line">
            <a:avLst/>
          </a:prstGeom>
          <a:noFill/>
          <a:ln w="12700">
            <a:solidFill>
              <a:srgbClr val="2E466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2960" y="5349240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A6BA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 앱 → 플랫폼 자동 집계 → AI 판단 → 조치까지, </a:t>
            </a:r>
            <a:pPr indent="0" marL="0">
              <a:buNone/>
            </a:pPr>
            <a:r>
              <a:rPr lang="en-US" sz="2000" b="1" dirty="0">
                <a:solidFill>
                  <a:srgbClr val="8FD8B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하나의 흐름.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822960" y="612648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B93B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제니엘 제조사업부 사업3팀 · 2026 제2회 ZAIC  —  데모: ZEN_Manufacturing_Platform.html · 데모 영상 3:45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2026-08-23T12:08:32Z</dcterms:created>
  <dcterms:modified xsi:type="dcterms:W3CDTF">2026-08-23T12:08:32Z</dcterms:modified>
</cp:coreProperties>
</file>