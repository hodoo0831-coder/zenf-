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제모스는 읽기 전용으로만 받는다. 원본은 어느 단계에서도 수정되지 않고, 사람이 확정한 값만 ERP로 나간다. 빨간 두 지점(제모스 수신 방식, ERP 쓰기 권한)이 풀려야 F0와 F3이 움직인다.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오류를 사유로 넘길 수 없다는 것, 확정 단위가 현장×월이라는 것, 그리고 판정 로직이 화면이 아니라 서버에 있다는 것 — 이 셋이 이 설계의 핵심이다.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4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구성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제모스가 찍고 </a:t>
            </a:r>
            <a:pPr indent="0" marL="0">
              <a:buNone/>
            </a:pPr>
            <a:r>
              <a:rPr lang="en-US" sz="1400" b="1" dirty="0">
                <a:solidFill>
                  <a:srgbClr val="3F5C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 시스템이 검증·확정하고 </a:t>
            </a:r>
            <a:pPr indent="0" marL="0">
              <a:buNone/>
            </a:pPr>
            <a:r>
              <a:rPr lang="en-US" sz="1400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ERP로 바로 쏜다.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457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AX T/F · 1그룹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원천 — 우리가 만들지 않는 것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82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6334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— 그리기만 한다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566160" cy="841248"/>
          </a:xfrm>
          <a:prstGeom prst="roundRect">
            <a:avLst>
              <a:gd name="adj" fmla="val 6522"/>
            </a:avLst>
          </a:prstGeom>
          <a:solidFill>
            <a:srgbClr val="EEF2F7"/>
          </a:solidFill>
          <a:ln w="15875">
            <a:solidFill>
              <a:srgbClr val="48688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755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68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제모스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72768" y="17922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출퇴근 태그 · 연차/반차 · 계정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0482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 전용 수신 · 일 1회 08:00 배치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2494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쓰기(write) 없음 — 앱을 건드리지 않는다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0" y="1645920"/>
            <a:ext cx="35661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D8DF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62272" y="1755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채널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62272" y="20482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Excel 업로드 · 관리자 수기 · OCR · 데이사인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462272" y="224942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제모스 미도입 현장 · 연동 장애 대비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46720" y="1645920"/>
            <a:ext cx="3593592" cy="841248"/>
          </a:xfrm>
          <a:prstGeom prst="roundRect">
            <a:avLst>
              <a:gd name="adj" fmla="val 6522"/>
            </a:avLst>
          </a:prstGeom>
          <a:solidFill>
            <a:srgbClr val="FBF0EF"/>
          </a:solidFill>
          <a:ln w="15875">
            <a:solidFill>
              <a:srgbClr val="C25A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11312" y="17556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5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방식 미확정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11312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조회API  ·  B DB읽기  ·  C 배치파일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11312" y="22311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이게 안 풀리면 F0 전체가 멈춘다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0" y="2523744"/>
            <a:ext cx="0" cy="310896"/>
          </a:xfrm>
          <a:prstGeom prst="line">
            <a:avLst/>
          </a:prstGeom>
          <a:noFill/>
          <a:ln w="19050">
            <a:solidFill>
              <a:srgbClr val="6B7A86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1938528" y="2578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2523744"/>
            <a:ext cx="0" cy="310896"/>
          </a:xfrm>
          <a:prstGeom prst="line">
            <a:avLst/>
          </a:prstGeom>
          <a:noFill/>
          <a:ln w="19050">
            <a:solidFill>
              <a:srgbClr val="6B7A86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687568" y="2578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 · 입력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2889504"/>
            <a:ext cx="7315200" cy="1938528"/>
          </a:xfrm>
          <a:prstGeom prst="roundRect">
            <a:avLst>
              <a:gd name="adj" fmla="val 2358"/>
            </a:avLst>
          </a:prstGeom>
          <a:solidFill>
            <a:srgbClr val="EDF2EB"/>
          </a:solidFill>
          <a:ln w="15875">
            <a:solidFill>
              <a:srgbClr val="5B7F52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749808" y="29809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C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로직  ·  Cloudflare Workers + D1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323697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23 · 엔드포인트 45 · 검증룰 15 — 판정과 계산은 전부 여기 있다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9808" y="3493008"/>
            <a:ext cx="12435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FE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0392" y="359359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원본 적재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50392" y="384962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 · 불변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50392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payload 그대로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0" y="3950208"/>
            <a:ext cx="109728" cy="0"/>
          </a:xfrm>
          <a:prstGeom prst="line">
            <a:avLst/>
          </a:prstGeom>
          <a:noFill/>
          <a:ln w="17780">
            <a:solidFill>
              <a:srgbClr val="6B7A8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139696" y="3493008"/>
            <a:ext cx="12435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F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240280" y="359359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표준화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2240280" y="384962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매핑 · 정합성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24028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표기 → 표준코드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01568" y="3950208"/>
            <a:ext cx="109728" cy="0"/>
          </a:xfrm>
          <a:prstGeom prst="line">
            <a:avLst/>
          </a:prstGeom>
          <a:noFill/>
          <a:ln w="17780">
            <a:solidFill>
              <a:srgbClr val="6B7A8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529584" y="3493008"/>
            <a:ext cx="12435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>
            <a:solidFill>
              <a:srgbClr val="5B7F5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630168" y="359359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5C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자동 검증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3630168" y="384962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V-01 ~ V-15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3630168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· 경고 분리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91456" y="3950208"/>
            <a:ext cx="109728" cy="0"/>
          </a:xfrm>
          <a:prstGeom prst="line">
            <a:avLst/>
          </a:prstGeom>
          <a:noFill/>
          <a:ln w="17780">
            <a:solidFill>
              <a:srgbClr val="6B7A8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919472" y="3493008"/>
            <a:ext cx="12435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F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20056" y="359359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확정값 보정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020056" y="384962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사유 없으면 차단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020056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원본은 그대로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81344" y="3950208"/>
            <a:ext cx="109728" cy="0"/>
          </a:xfrm>
          <a:prstGeom prst="line">
            <a:avLst/>
          </a:prstGeom>
          <a:noFill/>
          <a:ln w="17780">
            <a:solidFill>
              <a:srgbClr val="6B7A86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309360" y="3493008"/>
            <a:ext cx="12435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FE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09944" y="359359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마감 · 봉인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6409944" y="384962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× 월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409944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스냅샷 해시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749808" y="451713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근태원장 4단 구조:  원본 → 제안값 → 관리자 보정 → 최종 확정값  ·  각 단계에 주체·일시·사유가 남는다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229600" y="2889504"/>
            <a:ext cx="341071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5875">
            <a:solidFill>
              <a:srgbClr val="D8DFE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394192" y="3017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역할 · 35개 화면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394192" y="3328416"/>
            <a:ext cx="3081528" cy="292608"/>
          </a:xfrm>
          <a:prstGeom prst="roundRect">
            <a:avLst>
              <a:gd name="adj" fmla="val 15625"/>
            </a:avLst>
          </a:prstGeom>
          <a:solidFill>
            <a:srgbClr val="F4F6F6"/>
          </a:solidFill>
          <a:ln w="11430">
            <a:solidFill>
              <a:srgbClr val="D8DFE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522208" y="33832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근로자 (모바일 웹)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394192" y="3694176"/>
            <a:ext cx="3081528" cy="292608"/>
          </a:xfrm>
          <a:prstGeom prst="roundRect">
            <a:avLst>
              <a:gd name="adj" fmla="val 15625"/>
            </a:avLst>
          </a:prstGeom>
          <a:solidFill>
            <a:srgbClr val="F4F6F6"/>
          </a:solidFill>
          <a:ln w="11430">
            <a:solidFill>
              <a:srgbClr val="D8DFE3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522208" y="37490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현장관리자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394192" y="4059936"/>
            <a:ext cx="3081528" cy="292608"/>
          </a:xfrm>
          <a:prstGeom prst="roundRect">
            <a:avLst>
              <a:gd name="adj" fmla="val 15625"/>
            </a:avLst>
          </a:prstGeom>
          <a:solidFill>
            <a:srgbClr val="F4F6F6"/>
          </a:solidFill>
          <a:ln w="11430">
            <a:solidFill>
              <a:srgbClr val="D8DFE3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522208" y="41148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 / C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394192" y="4425696"/>
            <a:ext cx="3081528" cy="292608"/>
          </a:xfrm>
          <a:prstGeom prst="roundRect">
            <a:avLst>
              <a:gd name="adj" fmla="val 15625"/>
            </a:avLst>
          </a:prstGeom>
          <a:solidFill>
            <a:srgbClr val="F4F6F6"/>
          </a:solidFill>
          <a:ln w="11430">
            <a:solidFill>
              <a:srgbClr val="D8DFE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522208" y="44805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시스템관리자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882128" y="3931920"/>
            <a:ext cx="329184" cy="0"/>
          </a:xfrm>
          <a:prstGeom prst="line">
            <a:avLst/>
          </a:prstGeom>
          <a:noFill/>
          <a:ln w="19050">
            <a:solidFill>
              <a:srgbClr val="6B7A86"/>
            </a:solidFill>
            <a:prstDash val="solid"/>
            <a:headEnd type="triangle"/>
          </a:ln>
        </p:spPr>
      </p:sp>
      <p:sp>
        <p:nvSpPr>
          <p:cNvPr id="64" name="Text 62"/>
          <p:cNvSpPr txBox="1"/>
          <p:nvPr/>
        </p:nvSpPr>
        <p:spPr>
          <a:xfrm>
            <a:off x="7717536" y="370332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8229600" y="4864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화면에는 판정 로직이 없다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560320" y="4864608"/>
            <a:ext cx="0" cy="237744"/>
          </a:xfrm>
          <a:prstGeom prst="line">
            <a:avLst/>
          </a:prstGeom>
          <a:noFill/>
          <a:ln w="25400">
            <a:solidFill>
              <a:srgbClr val="5B7F52"/>
            </a:solidFill>
            <a:prstDash val="solid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2697480" y="488289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5C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확정값만 · 트랜잭션 · 멱등 재전송 · 역조회 대조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48640" y="5138928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EDF2EB"/>
          </a:solidFill>
          <a:ln w="17780">
            <a:solidFill>
              <a:srgbClr val="5B7F5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13232" y="5248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C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근태 DB 직접 INSERT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713232" y="55412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ERP_HR.TB_MON_ATT  /  TB_OT_ATT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713232" y="57515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생성 없음 · 사람의 수동 업로드 없음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754880" y="5138928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D8DFE3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919472" y="52486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· 고객사 산출물</a:t>
            </a:r>
            <a:endParaRPr lang="en-US" sz="1250" dirty="0"/>
          </a:p>
        </p:txBody>
      </p:sp>
      <p:sp>
        <p:nvSpPr>
          <p:cNvPr id="74" name="Text 72"/>
          <p:cNvSpPr txBox="1"/>
          <p:nvPr/>
        </p:nvSpPr>
        <p:spPr>
          <a:xfrm>
            <a:off x="4919472" y="55229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양식 5종 · 현장 고유표기 역매핑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4919472" y="573328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제출은 비식별 강제 (해제 불가)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8046720" y="5138928"/>
            <a:ext cx="3593592" cy="868680"/>
          </a:xfrm>
          <a:prstGeom prst="roundRect">
            <a:avLst>
              <a:gd name="adj" fmla="val 6316"/>
            </a:avLst>
          </a:prstGeom>
          <a:solidFill>
            <a:srgbClr val="FBF0EF"/>
          </a:solidFill>
          <a:ln w="15875">
            <a:solidFill>
              <a:srgbClr val="C25A52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211312" y="52486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5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권한 미확정</a:t>
            </a:r>
            <a:endParaRPr lang="en-US" sz="1250" dirty="0"/>
          </a:p>
        </p:txBody>
      </p:sp>
      <p:sp>
        <p:nvSpPr>
          <p:cNvPr id="78" name="Text 76"/>
          <p:cNvSpPr txBox="1"/>
          <p:nvPr/>
        </p:nvSpPr>
        <p:spPr>
          <a:xfrm>
            <a:off x="8211312" y="55229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코드가 아니라 인프라 문제</a:t>
            </a:r>
            <a:endParaRPr lang="en-US" sz="1050" dirty="0"/>
          </a:p>
        </p:txBody>
      </p:sp>
      <p:sp>
        <p:nvSpPr>
          <p:cNvPr id="79" name="Text 77"/>
          <p:cNvSpPr txBox="1"/>
          <p:nvPr/>
        </p:nvSpPr>
        <p:spPr>
          <a:xfrm>
            <a:off x="8211312" y="57332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· 테이블 스펙이 먼저다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548640" y="61996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두 지점이 지금 막혀 있는 곳 — 착수 전 결론이 필요하다 (기준문서 §12 ★)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구조가 지키는 것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C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그림에 드러나지 않는 규칙 — 노무 리스크 대응의 실제 장치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84048" cy="384048"/>
          </a:xfrm>
          <a:prstGeom prst="ellipse">
            <a:avLst/>
          </a:prstGeom>
          <a:solidFill>
            <a:srgbClr val="5B7F52"/>
          </a:solidFill>
          <a:ln w="12700">
            <a:solidFill>
              <a:srgbClr val="5B7F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819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996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원본은 고쳐지지 않는다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105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C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→ 제안값 → 관리자 보정 → 확정값 4단이 모두 보존되고, 각 단계에 주체·일시·사유가 붙는다.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14016"/>
            <a:ext cx="384048" cy="384048"/>
          </a:xfrm>
          <a:prstGeom prst="ellipse">
            <a:avLst/>
          </a:prstGeom>
          <a:solidFill>
            <a:srgbClr val="5B7F52"/>
          </a:solidFill>
          <a:ln w="12700">
            <a:solidFill>
              <a:srgbClr val="5B7F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7802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3957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오류는 사유로 못 넘어간다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066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C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경고는 사유를 남기면 통과하지만 오류 등급은 API 레벨에서 차단된다. 실제로 보정해야 해소된다.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384048" cy="384048"/>
          </a:xfrm>
          <a:prstGeom prst="ellipse">
            <a:avLst/>
          </a:prstGeom>
          <a:solidFill>
            <a:srgbClr val="5B7F52"/>
          </a:solidFill>
          <a:ln w="12700">
            <a:solidFill>
              <a:srgbClr val="5B7F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741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918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단위는 현장 × 월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0273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C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근로자를 한 명씩 승인하지 않는다. 현장의 근태가 조건을 채우면 전체를 1건으로 확정한다.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384048" cy="384048"/>
          </a:xfrm>
          <a:prstGeom prst="ellipse">
            <a:avLst/>
          </a:prstGeom>
          <a:solidFill>
            <a:srgbClr val="5B7F52"/>
          </a:solidFill>
          <a:ln w="12700">
            <a:solidFill>
              <a:srgbClr val="5B7F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702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187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로직이 화면에 없다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4988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C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검증·변환·한도 계산·전송이 전부 서버에 있다. 제모스로 옮길 때 화면만 바꿔 달면 된다.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02352"/>
            <a:ext cx="384048" cy="384048"/>
          </a:xfrm>
          <a:prstGeom prst="ellipse">
            <a:avLst/>
          </a:prstGeom>
          <a:solidFill>
            <a:srgbClr val="5B7F52"/>
          </a:solidFill>
          <a:ln w="12700">
            <a:solidFill>
              <a:srgbClr val="5B7F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1663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0840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마감하면 봉인된다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3949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C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확정값이 스냅샷으로 굳고 해시가 남는다. 이후 오류는 차월 소급분으로만 처리한다.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0" y="1481328"/>
            <a:ext cx="4142232" cy="2148840"/>
          </a:xfrm>
          <a:prstGeom prst="roundRect">
            <a:avLst>
              <a:gd name="adj" fmla="val 2128"/>
            </a:avLst>
          </a:prstGeom>
          <a:solidFill>
            <a:srgbClr val="16365B"/>
          </a:solidFill>
          <a:ln w="15875">
            <a:solidFill>
              <a:srgbClr val="2A4A7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266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막혀 있는 두 지점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1938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전 결론이 필요하다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232257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5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973568" y="23042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제모스 데이터 수신 방식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73568" y="25420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· B · C 중 확정 — 이노파크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5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973568" y="29077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근태 DB 쓰기 권한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973568" y="31455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· 망 결정이 먼저 — 전략기획실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3840480"/>
            <a:ext cx="4142232" cy="1965960"/>
          </a:xfrm>
          <a:prstGeom prst="roundRect">
            <a:avLst>
              <a:gd name="adj" fmla="val 2326"/>
            </a:avLst>
          </a:prstGeom>
          <a:solidFill>
            <a:srgbClr val="5B7F52"/>
          </a:solidFill>
          <a:ln w="12700">
            <a:solidFill>
              <a:srgbClr val="5B7F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26680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상태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726680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검증엔진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144000" y="43525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V-01 ~ V-15 전건 동작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726680" y="48097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흐름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144000" y="48097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→ 확정 → 마감 → 집계 대조 완주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726680" y="52669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제모스 · ERP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144000" y="52669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어댑터 · FILE 폴백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26364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6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AX T/F · 1그룹  ·  근태 원천등록 · ERP 자동화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근태 원천등록 · ERP 자동화 — 시스템 구성</dc:title>
  <dc:subject>PptxGenJS Presentation</dc:subject>
  <dc:creator>제니엘 AX T/F 1그룹</dc:creator>
  <cp:lastModifiedBy>제니엘 AX T/F 1그룹</cp:lastModifiedBy>
  <cp:revision>1</cp:revision>
  <dcterms:created xsi:type="dcterms:W3CDTF">2026-09-06T13:15:11Z</dcterms:created>
  <dcterms:modified xsi:type="dcterms:W3CDTF">2026-09-06T13:15:11Z</dcterms:modified>
</cp:coreProperties>
</file>