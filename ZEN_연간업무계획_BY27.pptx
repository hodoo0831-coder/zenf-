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8F0FB"/>
                </a:solidFill>
                <a:latin typeface="맑은 고딕"/>
              </a:defRPr>
            </a:pPr>
            <a:r>
              <a:rPr sz="1200" b="0" i="0" u="none" strike="noStrike">
                <a:solidFill>
                  <a:srgbClr val="E8F0FB"/>
                </a:solidFill>
                <a:latin typeface="맑은 고딕"/>
              </a:rPr>
              <a:t>도급귀책 LOSS 저감 시나리오 · 연 절감액 (백만원)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연 절감액(백만원)</c:v>
                </c:pt>
              </c:strCache>
            </c:strRef>
          </c:tx>
          <c:spPr>
            <a:solidFill>
              <a:srgbClr val="5B8DEF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8F0FB"/>
                    </a:solidFill>
                    <a:latin typeface="맑은 고딕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8DE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D4ED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보수 -10%</c:v>
                  </c:pt>
                  <c:pt idx="1">
                    <c:v>기준 -15%</c:v>
                  </c:pt>
                  <c:pt idx="2">
                    <c:v>도전 -20%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51.5</c:v>
                </c:pt>
                <c:pt idx="1">
                  <c:v>77.3</c:v>
                </c:pt>
                <c:pt idx="2">
                  <c:v>103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b="0" i="0" strike="noStrike" sz="1100" u="none">
                  <a:solidFill>
                    <a:srgbClr val="E8F0FB"/>
                  </a:solidFill>
                  <a:latin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7AECB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</c:scaling>
        <c:delete val="0"/>
        <c:axPos val="l"/>
        <c:majorGridlines>
          <c:spPr>
            <a:ln w="12700" cap="flat">
              <a:solidFill>
                <a:srgbClr val="2540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7AECB"/>
                </a:solidFill>
                <a:latin typeface="맑은 고딕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52540"/>
        </a:solidFill>
        <a:ln>
          <a:noFill/>
        </a:ln>
        <a:effectLst/>
      </c:spPr>
    </c:plotArea>
    <c:plotVisOnly val="1"/>
    <c:dispBlanksAs val="span"/>
  </c:chart>
  <c:spPr>
    <a:solidFill>
      <a:srgbClr val="152540"/>
    </a:solidFill>
    <a:ln w="12700" cap="flat">
      <a:solidFill>
        <a:srgbClr val="25405F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BY27 한 해를 어떻게 운영할지, 목표·일정·자원·리스크를 한 장의 계획으로 묶었습니다. 5대 축, 중점과제 15건, KPI 12개로 구성됩니다.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요약: 과제 15건, KPI 12개. 금액 효과는 AP 2축 기준 추정이며 LOSS율·실효율은 아직 가정값입니다. BY26 실적이 확보되면 엑셀 모델에서 자동 재계산됩니다.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전제 슬라이드입니다. 임률·원청귀책 52%·단가인상률·인원은 실적값이고, 아래 6개는 가정입니다. 이 가정을 실적으로 바꿔야 금액 효과가 확정됩니다.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문제 모두 사후 대응이 원인입니다. 각각 대응 과제를 오른쪽에 붙였습니다.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5대 축과 축별 대표 목표입니다. P3는 목표가 아니라 전제조건이라는 점을 강조합니다.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KPI 12개. 별표는 가정값이고, 목표는 기준에 연동된 수식입니다. 매월 실적을 입력하면 달성률이 자동으로 나옵니다.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금액은 AP 2축 244명 기준입니다. LOSS율 6%와 실효율 88%는 가정값이라 실적 확보 시 숫자가 바뀝니다. 절감액과 효율 GAP은 성격이 달라 합산하지 않았습니다.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172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1005840"/>
            <a:ext cx="3749040" cy="4846320"/>
          </a:xfrm>
          <a:prstGeom prst="roundRect">
            <a:avLst>
              <a:gd name="adj" fmla="val 1220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83880" y="1234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88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5대 운영축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183880" y="1691640"/>
            <a:ext cx="420624" cy="42062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183880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732520" y="17190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생산성·LOSS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83880" y="2514600"/>
            <a:ext cx="420624" cy="42062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18388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732520" y="25420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인력·조직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83880" y="3337560"/>
            <a:ext cx="420624" cy="42062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183880" y="3337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732520" y="33649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품질·안전·노무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83880" y="4160520"/>
            <a:ext cx="420624" cy="42062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83880" y="4160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P4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732520" y="41879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원가·정산·단가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83880" y="4983480"/>
            <a:ext cx="420624" cy="420624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183880" y="4983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P5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732520" y="50109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표준화·디지털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13716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BY27</a:t>
            </a:r>
            <a:endParaRPr lang="en-US" sz="64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224028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운영계획</a:t>
            </a:r>
            <a:endParaRPr lang="en-US" sz="46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32461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소장(센터장) 업무 연간 계획서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822960" y="3840480"/>
            <a:ext cx="6400800" cy="0"/>
          </a:xfrm>
          <a:prstGeom prst="line">
            <a:avLst/>
          </a:prstGeom>
          <a:noFill/>
          <a:ln w="12700">
            <a:solidFill>
              <a:srgbClr val="25405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406908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300" b="1" dirty="0">
                <a:solidFill>
                  <a:srgbClr val="6E88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대상기간   </a:t>
            </a:r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2027.01 ~ 2027.12
</a:t>
            </a:r>
            <a:pPr indent="0" marL="0">
              <a:lnSpc>
                <a:spcPts val="2600"/>
              </a:lnSpc>
              <a:buNone/>
            </a:pPr>
            <a:r>
              <a:rPr lang="en-US" sz="1300" b="1" dirty="0">
                <a:solidFill>
                  <a:srgbClr val="6E88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적용범위   </a:t>
            </a:r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아모레퍼시픽·코스비전 / 생산도급·업무도급 4축, 354명
</a:t>
            </a:r>
            <a:pPr indent="0" marL="0">
              <a:lnSpc>
                <a:spcPts val="2600"/>
              </a:lnSpc>
              <a:buNone/>
            </a:pPr>
            <a:r>
              <a:rPr lang="en-US" sz="1300" b="1" dirty="0">
                <a:solidFill>
                  <a:srgbClr val="6E88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보고선     </a:t>
            </a:r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센터장 → 본사 / 임원진 협의체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4864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BY27 계획 요약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3385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목표를 4개 숫자로 압축했다. 산출 근거는 5·11페이지.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2540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5214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8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8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제니엘 · AP 대전공장 센터 | BY27 연간 운영계획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783080"/>
            <a:ext cx="2697480" cy="1298448"/>
          </a:xfrm>
          <a:prstGeom prst="roundRect">
            <a:avLst>
              <a:gd name="adj" fmla="val 4225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4088" y="1929384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pPr indent="0" marL="0">
              <a:buNone/>
            </a:pPr>
            <a:r>
              <a:rPr lang="en-US" sz="1300" b="1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건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704088" y="253288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중점과제 — 5개 운영축 × 3건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64992" y="1783080"/>
            <a:ext cx="2697480" cy="1298448"/>
          </a:xfrm>
          <a:prstGeom prst="roundRect">
            <a:avLst>
              <a:gd name="adj" fmla="val 4225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66160" y="1929384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pPr indent="0" marL="0">
              <a:buNone/>
            </a:pPr>
            <a:r>
              <a:rPr lang="en-US" sz="1300" b="1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개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253288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 KPI — 월 단위 실적 집계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27064" y="1783080"/>
            <a:ext cx="2697480" cy="1298448"/>
          </a:xfrm>
          <a:prstGeom prst="roundRect">
            <a:avLst>
              <a:gd name="adj" fmla="val 4225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28232" y="1929384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-15</a:t>
            </a:r>
            <a:pPr indent="0" marL="0">
              <a:buNone/>
            </a:pPr>
            <a:r>
              <a:rPr lang="en-US" sz="1300" b="1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%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6428232" y="253288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도급귀책 LOSS 공수 저감 목표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089136" y="1783080"/>
            <a:ext cx="2569464" cy="1298448"/>
          </a:xfrm>
          <a:prstGeom prst="roundRect">
            <a:avLst>
              <a:gd name="adj" fmla="val 4225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290304" y="1929384"/>
            <a:ext cx="2203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pPr indent="0" marL="0">
              <a:buNone/>
            </a:pPr>
            <a:r>
              <a:rPr lang="en-US" sz="1300" b="1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건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9290304" y="2532888"/>
            <a:ext cx="2203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중대재해 · 불법파견 고위험 항목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3291840"/>
            <a:ext cx="11155680" cy="1481328"/>
          </a:xfrm>
          <a:prstGeom prst="roundRect">
            <a:avLst>
              <a:gd name="adj" fmla="val 370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메시지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37033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BY27은 「BY28 단가협상을 이기기 위한 데이터를 쌓는 해」다. 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BY26 협상은 8개월치 LOSS를 소급 정리해 원청귀책 52%를 입증했지만, BY27은 사유코드·귀책룰을 1월에 확정해 매월 자동으로 근거가 쌓이도록 만든다.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422452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전제조건은 두 가지 — 중대재해 0, 불법파견 고위험 0. 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둘은 목표가 아니라 계약 존속 조건이며, 다른 과제보다 우선 자원을 배분한다.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02920" y="4956048"/>
            <a:ext cx="11155680" cy="1188720"/>
          </a:xfrm>
          <a:prstGeom prst="roundRect">
            <a:avLst>
              <a:gd name="adj" fmla="val 4615"/>
            </a:avLst>
          </a:prstGeom>
          <a:solidFill>
            <a:srgbClr val="1B2E4D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50840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기대효과 (AP 2축 기준 · 가정 반영)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537667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도급귀책 LOSS 15% 저감 → 연 약 7,700만원 절감</a:t>
            </a:r>
            <a:pPr indent="0" marL="0">
              <a:buNone/>
            </a:pPr>
            <a:r>
              <a:rPr lang="en-US" sz="1300" dirty="0">
                <a:solidFill>
                  <a:srgbClr val="6E88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|   </a:t>
            </a:r>
            <a:pPr indent="0" marL="0">
              <a:buNone/>
            </a:pPr>
            <a:r>
              <a:rPr lang="en-US" sz="1300" b="1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실효율 +2.0%p 회복 → 연 약 3.6억원 상당의 운영 효율 가치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77240" y="57241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88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임률 35,121원/M·H, 월 기준공수 174H, LOSS율 6% 가정. LOSS율·실효율은 BY26 실적 확보 시 교체 필요 — 두 값은 성격이 달라 합산하지 않는다.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BASELINE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4864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 전제 — 운영 구조와 기준값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3385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집계는 고객 × 계약유형 분리가 기본이다. 합산 시 출처를 명시한다.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2540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5214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8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8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제니엘 · AP 대전공장 센터 | BY27 연간 운영계획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67208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960120"/>
                <a:gridCol w="868680"/>
                <a:gridCol w="1188720"/>
                <a:gridCol w="1234440"/>
                <a:gridCol w="114300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계약유형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인원(명)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임률(원/M·H)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 총공수(M·H)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비고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아모레퍼시픽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생산도급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35,121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26,622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BY26 실적 임률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아모레퍼시픽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업무도급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35,121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15,834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AP 임률 준용(가정)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코스비전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생산도급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별도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9,570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임률 확보 필요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코스비전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업무도급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별도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9,570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세탁실 별도정산 포함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354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61,596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B4B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임률 상이 — 대외 제시 금지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D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452360" y="1783080"/>
            <a:ext cx="4206240" cy="2212848"/>
          </a:xfrm>
          <a:prstGeom prst="roundRect">
            <a:avLst>
              <a:gd name="adj" fmla="val 2479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699248" y="1901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확정 수치 (BY26 실적)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699248" y="22402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임률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875520" y="224028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35,121 원/M·H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7699248" y="266090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원청(AP)귀책 LOSS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875520" y="2660904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52 %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7699248" y="308152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단가인상 · 생산도급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9875520" y="308152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+4.12 %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7699248" y="350215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단가인상 · 업무도급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9875520" y="350215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+4.82 %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02920" y="4160520"/>
            <a:ext cx="11155680" cy="1783080"/>
          </a:xfrm>
          <a:prstGeom prst="roundRect">
            <a:avLst>
              <a:gd name="adj" fmla="val 3077"/>
            </a:avLst>
          </a:prstGeom>
          <a:solidFill>
            <a:srgbClr val="1B2E4D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" y="4297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가정값 — BY26 실적 확보 시 교체 대상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77240" y="4663440"/>
            <a:ext cx="3291840" cy="402336"/>
          </a:xfrm>
          <a:prstGeom prst="roundRect">
            <a:avLst>
              <a:gd name="adj" fmla="val 1136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14400" y="46634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LOSS율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2788920" y="4663440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B4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6.0%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434840" y="4663440"/>
            <a:ext cx="3291840" cy="402336"/>
          </a:xfrm>
          <a:prstGeom prst="roundRect">
            <a:avLst>
              <a:gd name="adj" fmla="val 1136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72000" y="46634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실효율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6446520" y="4663440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B4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88.0%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8092440" y="4663440"/>
            <a:ext cx="3291840" cy="402336"/>
          </a:xfrm>
          <a:prstGeom prst="roundRect">
            <a:avLst>
              <a:gd name="adj" fmla="val 1136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229600" y="46634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기준공수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104120" y="4663440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B4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174 M·H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777240" y="5193792"/>
            <a:ext cx="3291840" cy="402336"/>
          </a:xfrm>
          <a:prstGeom prst="roundRect">
            <a:avLst>
              <a:gd name="adj" fmla="val 1136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14400" y="519379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결원율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2788920" y="5193792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B4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3.8%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4434840" y="5193792"/>
            <a:ext cx="3291840" cy="402336"/>
          </a:xfrm>
          <a:prstGeom prst="roundRect">
            <a:avLst>
              <a:gd name="adj" fmla="val 1136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572000" y="519379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이직률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6446520" y="5193792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B4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4.2%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8092440" y="5193792"/>
            <a:ext cx="3291840" cy="402336"/>
          </a:xfrm>
          <a:prstGeom prst="roundRect">
            <a:avLst>
              <a:gd name="adj" fmla="val 1136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229600" y="519379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다능공 보유율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104120" y="5193792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B4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45%</a:t>
            </a:r>
            <a:endParaRPr lang="en-US" sz="1150" dirty="0"/>
          </a:p>
        </p:txBody>
      </p:sp>
      <p:sp>
        <p:nvSpPr>
          <p:cNvPr id="40" name="Text 37"/>
          <p:cNvSpPr txBox="1"/>
          <p:nvPr/>
        </p:nvSpPr>
        <p:spPr>
          <a:xfrm>
            <a:off x="777240" y="568756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88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6개는 근거가 없는 플레이스홀더다. 계획 승인 전 BY26 MES·인사 실적으로 반드시 교체한다 — 엑셀 「01_기준전제」 시트 입력 셀.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PROBLEM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4864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연간계획인가 — 반복되는 구조적 문제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3385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현상이 아니라 구조로 정의한다. 세 가지 모두 「사후 대응」이 원인이다.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2540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5214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8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8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제니엘 · AP 대전공장 센터 | BY27 연간 운영계획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783080"/>
            <a:ext cx="11155680" cy="1335024"/>
          </a:xfrm>
          <a:prstGeom prst="roundRect">
            <a:avLst>
              <a:gd name="adj" fmla="val 4110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002536"/>
            <a:ext cx="566928" cy="5669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0025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536192" y="1929384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 주기와 협상 주기가 어긋나 있다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536192" y="228600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단가협상은 연 1회인데 운영은 월 단위로만 굴러간다. BY26 협상은 8개월치 LOSS를 소급 정리해 근거를 만들었다 — 근거가 협상 직전에 만들어지면 협상력은 항상 원청이 쥔다.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321040" y="1965960"/>
            <a:ext cx="0" cy="969264"/>
          </a:xfrm>
          <a:prstGeom prst="line">
            <a:avLst/>
          </a:prstGeom>
          <a:noFill/>
          <a:ln w="12700">
            <a:solidFill>
              <a:srgbClr val="25405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22208" y="1965960"/>
            <a:ext cx="29718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1월에 귀책룰을 확정하고 매월 자동으로 근거를 쌓는다 (A-01, D-02)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264408"/>
            <a:ext cx="11155680" cy="1335024"/>
          </a:xfrm>
          <a:prstGeom prst="roundRect">
            <a:avLst>
              <a:gd name="adj" fmla="val 4110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483864"/>
            <a:ext cx="566928" cy="5669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34838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536192" y="3410712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LOSS 귀책이 사유별 룰 없이 집계된다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536192" y="376732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LOSS를 관행적으로 나누면 협상 테이블에서 깨진다. 자재 미입고는 원청, 휴식 미복귀는 도급, 설비 워밍업은 공통 — 사유마다 귀책이 다르다.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321040" y="3447288"/>
            <a:ext cx="0" cy="969264"/>
          </a:xfrm>
          <a:prstGeom prst="line">
            <a:avLst/>
          </a:prstGeom>
          <a:noFill/>
          <a:ln w="12700">
            <a:solidFill>
              <a:srgbClr val="25405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22208" y="3447288"/>
            <a:ext cx="29718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사유코드별 귀책룰을 정의서로 고정, 미분류 3% 이하 (A-01)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4745736"/>
            <a:ext cx="11155680" cy="1335024"/>
          </a:xfrm>
          <a:prstGeom prst="roundRect">
            <a:avLst>
              <a:gd name="adj" fmla="val 4110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4965192"/>
            <a:ext cx="566928" cy="5669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49651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536192" y="4892040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4축 손익이 분리되어 보이지 않는다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536192" y="5248656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× 계약유형 4축의 원가 구조가 다른데 합산 집계하면 어느 계약이 손익을 갉아먹는지 보이지 않는다. 코스비전 세탁실 별도정산도 같은 문제다.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321040" y="4928616"/>
            <a:ext cx="0" cy="969264"/>
          </a:xfrm>
          <a:prstGeom prst="line">
            <a:avLst/>
          </a:prstGeom>
          <a:noFill/>
          <a:ln w="12700">
            <a:solidFill>
              <a:srgbClr val="25405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22208" y="4928616"/>
            <a:ext cx="29718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월마감 4축 분리집계 표준화, 마감 D+3 (D-01, D-03)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STRATEGY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4864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BY27 운영 방침 — 5대 축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3385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축마다 중점과제 3건. 축별로 목표·산출물·담당이 정해져 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2540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5214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8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8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제니엘 · AP 대전공장 센터 | BY27 연간 운영계획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783080"/>
            <a:ext cx="11155680" cy="713232"/>
          </a:xfrm>
          <a:prstGeom prst="roundRect">
            <a:avLst>
              <a:gd name="adj" fmla="val 7692"/>
            </a:avLst>
          </a:prstGeom>
          <a:solidFill>
            <a:srgbClr val="1B2E4D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178308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방침   </a:t>
            </a:r>
            <a:pPr indent="0" marL="0">
              <a:buNone/>
            </a:pPr>
            <a:r>
              <a:rPr lang="en-US" sz="1400" b="1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「안전·노무를 전제조건으로 고정하고, LOSS 귀책 데이터로 손익을 방어하며, 인력 변동성을 다능공으로 흡수한다」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697480"/>
            <a:ext cx="11155680" cy="640080"/>
          </a:xfrm>
          <a:prstGeom prst="roundRect">
            <a:avLst>
              <a:gd name="adj" fmla="val 8571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697480"/>
            <a:ext cx="82296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2825496"/>
            <a:ext cx="384048" cy="38404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9808" y="2825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P1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6974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생산성·LOSS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246120" y="2697480"/>
            <a:ext cx="5532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LOSS 귀속 체계로 원청/도급 책임을 분리하고 도급귀책 공수를 줄인다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915400" y="26974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LOSS율 -15% · 효율 GAP ≤2%p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3456432"/>
            <a:ext cx="11155680" cy="640080"/>
          </a:xfrm>
          <a:prstGeom prst="roundRect">
            <a:avLst>
              <a:gd name="adj" fmla="val 8571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456432"/>
            <a:ext cx="82296" cy="6400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0" name="Shape 18"/>
          <p:cNvSpPr/>
          <p:nvPr/>
        </p:nvSpPr>
        <p:spPr>
          <a:xfrm>
            <a:off x="749808" y="3584448"/>
            <a:ext cx="384048" cy="38404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9808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P2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456432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인력·조직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246120" y="3456432"/>
            <a:ext cx="5532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결원·이직을 안정화하고 다능공·관리라인으로 변동에 대응한다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915400" y="345643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결원율 ≤3.0% · 다능공 60%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4215384"/>
            <a:ext cx="11155680" cy="640080"/>
          </a:xfrm>
          <a:prstGeom prst="roundRect">
            <a:avLst>
              <a:gd name="adj" fmla="val 8571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4215384"/>
            <a:ext cx="82296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Shape 25"/>
          <p:cNvSpPr/>
          <p:nvPr/>
        </p:nvSpPr>
        <p:spPr>
          <a:xfrm>
            <a:off x="749808" y="4343400"/>
            <a:ext cx="384048" cy="38404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49808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P3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1280160" y="4215384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품질·안전·노무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3246120" y="4215384"/>
            <a:ext cx="5532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중대재해 0, 불법파견 고위험 0을 전제조건으로 관리한다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8915400" y="4215384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중대재해 0 · 산재 -30%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02920" y="4974336"/>
            <a:ext cx="11155680" cy="640080"/>
          </a:xfrm>
          <a:prstGeom prst="roundRect">
            <a:avLst>
              <a:gd name="adj" fmla="val 8571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4974336"/>
            <a:ext cx="82296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Shape 32"/>
          <p:cNvSpPr/>
          <p:nvPr/>
        </p:nvSpPr>
        <p:spPr>
          <a:xfrm>
            <a:off x="749808" y="5102352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49808" y="5102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P4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1280160" y="4974336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원가·정산·단가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3246120" y="4974336"/>
            <a:ext cx="5532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4축 분리집계를 정착시키고 BY28 협상 근거를 축적한다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8915400" y="4974336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마감 D+3 · 협상자료 10월 완성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02920" y="5733288"/>
            <a:ext cx="11155680" cy="640080"/>
          </a:xfrm>
          <a:prstGeom prst="roundRect">
            <a:avLst>
              <a:gd name="adj" fmla="val 8571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" y="5733288"/>
            <a:ext cx="82296" cy="64008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1" name="Shape 39"/>
          <p:cNvSpPr/>
          <p:nvPr/>
        </p:nvSpPr>
        <p:spPr>
          <a:xfrm>
            <a:off x="749808" y="5861304"/>
            <a:ext cx="384048" cy="384048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749808" y="5861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P5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1280160" y="5733288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표준화·디지털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3246120" y="5733288"/>
            <a:ext cx="5532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ZEN 플랫폼으로 계획→실적→보고를 단일 데이터로 잇는다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915400" y="573328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855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 준수율 95% · 보고공수 -50%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KPI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4864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BY27 관리 KPI 12개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3385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기준값은 BY26 실적. 붉은 표시는 아직 가정값으로, 실적 확보 시 목표가 자동 갱신된다.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2540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5214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8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8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제니엘 · AP 대전공장 센터 | BY27 연간 운영계획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1115568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566928"/>
                <a:gridCol w="2514600"/>
                <a:gridCol w="3364992"/>
                <a:gridCol w="2011680"/>
                <a:gridCol w="201168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ID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KPI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BY26 기준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BY27 목표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K01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B82F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LOSS율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LOSS 공수 ÷ 총 투입공수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B4B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6.0%*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5.1%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K02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B82F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도급귀책 LOSS 공수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LOSS 공수 × 도급귀책 비중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B4B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1,774 H/월*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1,508 H/월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K03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B82F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원청귀책 LOSS 비중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원청귀책 ÷ 전체 LOSS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52.0%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근거 유지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K04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B82F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실효율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실적공수 ÷ 표준공수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B4B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88.0%*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90.0%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K05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월평균 결원율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결원 ÷ 정원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B4B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3.8%*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≤ 3.0%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K06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월평균 이직률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퇴사 ÷ 평균 재직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B4B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4.2%*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≤ 3.5%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K07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다능공 보유율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2공정 이상 가능 ÷ 총원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B4B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45%*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≥ 60%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K08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중대재해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발생 건수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 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K09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산재 건수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발생 건수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B4B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 건*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≤ 2 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K10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도급귀책 품질클레임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도급귀책 판정 건수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B4B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 건*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≤ 7 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K11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P4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월마감 리드타임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마감 완료일 − 월말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B4B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 일*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≤ 3 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K12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855F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주간계획 업로드 준수율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업로드 주차 ÷ 전체 주차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≥ 95%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502920" y="58704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88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  BY26 실적 미확보 — 가정값. 목표는 기준값에 연동된 수식이므로 실적 입력 시 자동 재산출된다 (엑셀 「02_KPI목표」).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INITIATIVES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4864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중점과제 (1/2) — 생산성 · 인력 · 안전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3385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P1~P3 9건. 난이도 High 3건은 원청 합의 또는 본사 지원이 전제된다.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2540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5214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8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8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제니엘 · AP 대전공장 센터 | BY27 연간 운영계획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11155680" cy="914400"/>
        </p:xfrm>
        <a:graphic>
          <a:graphicData uri="http://schemas.openxmlformats.org/drawingml/2006/table">
            <a:tbl>
              <a:tblPr/>
              <a:tblGrid>
                <a:gridCol w="658368"/>
                <a:gridCol w="2788920"/>
                <a:gridCol w="2514600"/>
                <a:gridCol w="2880360"/>
                <a:gridCol w="749808"/>
                <a:gridCol w="786384"/>
                <a:gridCol w="7772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ID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정량 목표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핵심 산출물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난이도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A-01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LOSS 사유코드·귀책룰 확정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FE0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귀책 미분류 LOSS ≤3%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7AEC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LOSS 카테고리 정의서 v3 · 월 귀속리포트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C4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Mid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7AEC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1~3월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7AEC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생산관리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A-02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도급귀책 LOSS 3대 항목 저감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FE0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도급귀책 공수 전년比 -15%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7AEC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휴식 미복귀·교대준비·초기불량 개선안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C4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Mid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7AEC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2~12월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7AEC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생산반장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A-03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라인별 목표효율 재설정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FE0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효율 GAP ≤2%p 라인 80%↑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7AEC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라인별 표준효율표 · 주간 편차관리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8A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High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7AEC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4~12월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7AEC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생산관리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B-01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결원·조기이탈 안정화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FE0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결원율 ≤3.0% · 이직률 ≤3.5%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7AEC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채용 파이프라인 · 4주 온보딩 체크리스트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8A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High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7AEC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연중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7AEC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인사담당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B-02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다능공 스킬매트릭스 운영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FE0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다능공 보유율 60%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7AEC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공정별 스킬매트릭스 · 연 2회 교육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C4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Mid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7AEC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1~9월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7AEC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교육담당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B-03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조장·반장 관리라인 역량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FE0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리더 교육 이수 100%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7AEC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지휘체계 R&amp;R 정의서 · 월 리더미팅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C4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Mid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7AEC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연중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7AEC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센터장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C-01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중대재해 Zero · 산재 저감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FE0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중대재해 0 · 산재 -30%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7AEC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안전보건계획 · 위험성평가 · 아차사고 대장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C4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Mid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7AEC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연중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7AEC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안전담당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C-02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하절기 온열질환 대응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FE0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온열질환 0 · 폭염 LOSS -20%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7AEC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체감온도 휴식 프로토콜 · HeatWatch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0E39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Low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7AEC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4~9월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7AEC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안전담당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C-03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불법파견 자체진단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FE0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고위험 항목 0건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7AEC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진단 130항목 · 지시경로 기록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8A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High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7AEC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반기 2회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7AEC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센터장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502920" y="601675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88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난이도  Low = 기존 자원으로 즉시 실행 · Mid = 타 부서/원청 협의 필요 · High = 원청 합의 또는 본사 승인 필요, 실패 시 손익 직결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INITIATIVES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4864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중점과제 (2/2) — 품질 · 원가 · 표준화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3385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D-02(BY28 협상 근거)가 BY27 최대 과제. 10월까지 데이터가 완성되지 않으면 협상은 BY26 방식으로 회귀한다.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2540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5214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8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8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제니엘 · AP 대전공장 센터 | BY27 연간 운영계획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11155680" cy="914400"/>
        </p:xfrm>
        <a:graphic>
          <a:graphicData uri="http://schemas.openxmlformats.org/drawingml/2006/table">
            <a:tbl>
              <a:tblPr/>
              <a:tblGrid>
                <a:gridCol w="658368"/>
                <a:gridCol w="2788920"/>
                <a:gridCol w="2514600"/>
                <a:gridCol w="2880360"/>
                <a:gridCol w="749808"/>
                <a:gridCol w="786384"/>
                <a:gridCol w="7772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ID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정량 목표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핵심 산출물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난이도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C-04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도급귀책 품질클레임 저감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FE0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도급귀책 클레임 -30%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7AEC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초·중·종물 검사 준수율 · OPL 전개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C4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Mid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7AEC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연중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7AEC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품질담당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D-01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월마감 4축 분리집계 표준화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FE0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정산 오류 0건 · 마감 D+3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7AEC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마감 체크리스트 · 4축 집계 양식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C4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Mid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7AEC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1~4월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7AEC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정산담당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D-02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BY28 단가협상 근거 축적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FE0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10월까지 데이터패키지 완성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7AEC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LOSS 귀속 확정치 · 단가 산출내역서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8A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High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7AEC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8~11월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7AEC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센터장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D-03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코스비전 세탁실 별도정산 정착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FE0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분리청구 누락 0건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7AEC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비용 분리 산정기준 · 증빙 표준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0E39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Low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7AEC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1~6월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7AEC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정산담당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855F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E-01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ZEN 플랫폼 현장 정착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FE0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주간 업로드 준수율 95%↑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7AEC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업로드 SOP · 조치추적 운영지표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C4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Mid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7AEC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연중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7AEC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센터장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855F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E-02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본사 월간보고 표준화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FE0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보고 작성공수 -50%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7AEC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월간 경영보고 템플릿 v27(4축 분리)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0E39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Low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7AEC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1~3월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7AEC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센터장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02920" y="4892040"/>
            <a:ext cx="11155680" cy="1051560"/>
          </a:xfrm>
          <a:prstGeom prst="roundRect">
            <a:avLst>
              <a:gd name="adj" fmla="val 5217"/>
            </a:avLst>
          </a:prstGeom>
          <a:solidFill>
            <a:srgbClr val="1B2E4D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50109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D-02가 실패하면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528523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BY28 협상 테이블에 올릴 원청귀책 근거가 없어진다. BY26 단가인상 실적(생산 +4.12% / 업무 +4.82%)은 8개월치 LOSS 귀속 분석이 만든 결과이며, 근거 없이 같은 수준을 반복할 수 없다. 1~10월 데이터 축적은 협상 준비가 아니라 협상 그 자체다.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4864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마스터 스케줄 — 상반기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3385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상단 띠는 그 달의 고정 일정, 아래는 5개 운영축(P1~P5)의 핵심 업무다.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2540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5214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8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8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제니엘 · AP 대전공장 센터 | BY27 연간 운영계획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9496" y="1783080"/>
            <a:ext cx="1786128" cy="402336"/>
          </a:xfrm>
          <a:prstGeom prst="rect">
            <a:avLst/>
          </a:prstGeom>
          <a:solidFill>
            <a:srgbClr val="1B2E4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9496" y="1783080"/>
            <a:ext cx="1786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1월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9496" y="2185416"/>
            <a:ext cx="1786128" cy="274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39496" y="2185416"/>
            <a:ext cx="178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안전보건계획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9496" y="2560320"/>
            <a:ext cx="1786128" cy="658368"/>
          </a:xfrm>
          <a:prstGeom prst="roundRect">
            <a:avLst>
              <a:gd name="adj" fmla="val 694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9496" y="2560320"/>
            <a:ext cx="54864" cy="65836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0936" y="25877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P1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" y="2752344"/>
            <a:ext cx="162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LOSS 사유코드·귀책룰 확정, 시스템 반영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39496" y="3282696"/>
            <a:ext cx="1786128" cy="658368"/>
          </a:xfrm>
          <a:prstGeom prst="roundRect">
            <a:avLst>
              <a:gd name="adj" fmla="val 694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9496" y="3282696"/>
            <a:ext cx="54864" cy="6583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0936" y="33101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P2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" y="3474720"/>
            <a:ext cx="162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조직·R&amp;R 확정, 연간 교육계획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39496" y="4005072"/>
            <a:ext cx="1786128" cy="658368"/>
          </a:xfrm>
          <a:prstGeom prst="roundRect">
            <a:avLst>
              <a:gd name="adj" fmla="val 694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9496" y="4005072"/>
            <a:ext cx="54864" cy="6583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0936" y="40325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P3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630936" y="4197096"/>
            <a:ext cx="162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안전보건계획 수립·게시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39496" y="4727448"/>
            <a:ext cx="1786128" cy="658368"/>
          </a:xfrm>
          <a:prstGeom prst="roundRect">
            <a:avLst>
              <a:gd name="adj" fmla="val 694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9496" y="4727448"/>
            <a:ext cx="54864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0936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P4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630936" y="4919472"/>
            <a:ext cx="162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BY27 단가 적용 개시, 청구기준 확인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39496" y="5449824"/>
            <a:ext cx="1786128" cy="658368"/>
          </a:xfrm>
          <a:prstGeom prst="roundRect">
            <a:avLst>
              <a:gd name="adj" fmla="val 694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9496" y="5449824"/>
            <a:ext cx="54864" cy="65836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30936" y="54772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855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P5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630936" y="5641848"/>
            <a:ext cx="162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월간 경영보고 템플릿 v27 배포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398776" y="1783080"/>
            <a:ext cx="1786128" cy="402336"/>
          </a:xfrm>
          <a:prstGeom prst="rect">
            <a:avLst/>
          </a:prstGeom>
          <a:solidFill>
            <a:srgbClr val="1B2E4D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2398776" y="1783080"/>
            <a:ext cx="1786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2월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398776" y="2185416"/>
            <a:ext cx="1786128" cy="274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2398776" y="2185416"/>
            <a:ext cx="178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 연휴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398776" y="2560320"/>
            <a:ext cx="1786128" cy="658368"/>
          </a:xfrm>
          <a:prstGeom prst="roundRect">
            <a:avLst>
              <a:gd name="adj" fmla="val 694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398776" y="2560320"/>
            <a:ext cx="54864" cy="65836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2490216" y="25877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P1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2490216" y="2752344"/>
            <a:ext cx="162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1월 LOSS 귀속리포트 최초 발행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398776" y="3282696"/>
            <a:ext cx="1786128" cy="658368"/>
          </a:xfrm>
          <a:prstGeom prst="roundRect">
            <a:avLst>
              <a:gd name="adj" fmla="val 694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398776" y="3282696"/>
            <a:ext cx="54864" cy="6583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2490216" y="33101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P2</a:t>
            </a:r>
            <a:endParaRPr lang="en-US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2490216" y="3474720"/>
            <a:ext cx="162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 연휴 인력운영, 스킬매트릭스 기준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398776" y="4005072"/>
            <a:ext cx="1786128" cy="658368"/>
          </a:xfrm>
          <a:prstGeom prst="roundRect">
            <a:avLst>
              <a:gd name="adj" fmla="val 694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398776" y="4005072"/>
            <a:ext cx="54864" cy="6583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2490216" y="40325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P3</a:t>
            </a:r>
            <a:endParaRPr lang="en-US" sz="800" dirty="0"/>
          </a:p>
        </p:txBody>
      </p:sp>
      <p:sp>
        <p:nvSpPr>
          <p:cNvPr id="48" name="Text 46"/>
          <p:cNvSpPr txBox="1"/>
          <p:nvPr/>
        </p:nvSpPr>
        <p:spPr>
          <a:xfrm>
            <a:off x="2490216" y="4197096"/>
            <a:ext cx="162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1분기 정기 안전보건교육(법정)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398776" y="4727448"/>
            <a:ext cx="1786128" cy="658368"/>
          </a:xfrm>
          <a:prstGeom prst="roundRect">
            <a:avLst>
              <a:gd name="adj" fmla="val 694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398776" y="4727448"/>
            <a:ext cx="54864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2490216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P4</a:t>
            </a:r>
            <a:endParaRPr lang="en-US" sz="800" dirty="0"/>
          </a:p>
        </p:txBody>
      </p:sp>
      <p:sp>
        <p:nvSpPr>
          <p:cNvPr id="52" name="Text 50"/>
          <p:cNvSpPr txBox="1"/>
          <p:nvPr/>
        </p:nvSpPr>
        <p:spPr>
          <a:xfrm>
            <a:off x="2490216" y="4919472"/>
            <a:ext cx="162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1월 마감 정산 검증(4축)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398776" y="5449824"/>
            <a:ext cx="1786128" cy="658368"/>
          </a:xfrm>
          <a:prstGeom prst="roundRect">
            <a:avLst>
              <a:gd name="adj" fmla="val 694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398776" y="5449824"/>
            <a:ext cx="54864" cy="65836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2490216" y="54772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855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P5</a:t>
            </a:r>
            <a:endParaRPr lang="en-US" sz="800" dirty="0"/>
          </a:p>
        </p:txBody>
      </p:sp>
      <p:sp>
        <p:nvSpPr>
          <p:cNvPr id="56" name="Text 54"/>
          <p:cNvSpPr txBox="1"/>
          <p:nvPr/>
        </p:nvSpPr>
        <p:spPr>
          <a:xfrm>
            <a:off x="2490216" y="5641848"/>
            <a:ext cx="162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주간계획 업로드 프로세스 정착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258056" y="1783080"/>
            <a:ext cx="1786128" cy="402336"/>
          </a:xfrm>
          <a:prstGeom prst="rect">
            <a:avLst/>
          </a:prstGeom>
          <a:solidFill>
            <a:srgbClr val="1B2E4D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4258056" y="1783080"/>
            <a:ext cx="1786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3월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4258056" y="2185416"/>
            <a:ext cx="1786128" cy="274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4258056" y="2185416"/>
            <a:ext cx="178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1Q 경영보고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258056" y="2560320"/>
            <a:ext cx="1786128" cy="658368"/>
          </a:xfrm>
          <a:prstGeom prst="roundRect">
            <a:avLst>
              <a:gd name="adj" fmla="val 694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258056" y="2560320"/>
            <a:ext cx="54864" cy="65836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4349496" y="25877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P1</a:t>
            </a:r>
            <a:endParaRPr lang="en-US" sz="800" dirty="0"/>
          </a:p>
        </p:txBody>
      </p:sp>
      <p:sp>
        <p:nvSpPr>
          <p:cNvPr id="64" name="Text 62"/>
          <p:cNvSpPr txBox="1"/>
          <p:nvPr/>
        </p:nvSpPr>
        <p:spPr>
          <a:xfrm>
            <a:off x="4349496" y="2752344"/>
            <a:ext cx="162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도급귀책 3대 항목 개선 착수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258056" y="3282696"/>
            <a:ext cx="1786128" cy="658368"/>
          </a:xfrm>
          <a:prstGeom prst="roundRect">
            <a:avLst>
              <a:gd name="adj" fmla="val 694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258056" y="3282696"/>
            <a:ext cx="54864" cy="6583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4349496" y="33101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P2</a:t>
            </a:r>
            <a:endParaRPr lang="en-US" sz="800" dirty="0"/>
          </a:p>
        </p:txBody>
      </p:sp>
      <p:sp>
        <p:nvSpPr>
          <p:cNvPr id="68" name="Text 66"/>
          <p:cNvSpPr txBox="1"/>
          <p:nvPr/>
        </p:nvSpPr>
        <p:spPr>
          <a:xfrm>
            <a:off x="4349496" y="3474720"/>
            <a:ext cx="162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1Q 결원·이직 리뷰, 채용 LT 개선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258056" y="4005072"/>
            <a:ext cx="1786128" cy="658368"/>
          </a:xfrm>
          <a:prstGeom prst="roundRect">
            <a:avLst>
              <a:gd name="adj" fmla="val 694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258056" y="4005072"/>
            <a:ext cx="54864" cy="6583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4349496" y="40325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P3</a:t>
            </a:r>
            <a:endParaRPr lang="en-US" sz="800" dirty="0"/>
          </a:p>
        </p:txBody>
      </p:sp>
      <p:sp>
        <p:nvSpPr>
          <p:cNvPr id="72" name="Text 70"/>
          <p:cNvSpPr txBox="1"/>
          <p:nvPr/>
        </p:nvSpPr>
        <p:spPr>
          <a:xfrm>
            <a:off x="4349496" y="4197096"/>
            <a:ext cx="162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위험성평가(정기) 실시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4258056" y="4727448"/>
            <a:ext cx="1786128" cy="658368"/>
          </a:xfrm>
          <a:prstGeom prst="roundRect">
            <a:avLst>
              <a:gd name="adj" fmla="val 694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258056" y="4727448"/>
            <a:ext cx="54864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4349496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P4</a:t>
            </a:r>
            <a:endParaRPr lang="en-US" sz="800" dirty="0"/>
          </a:p>
        </p:txBody>
      </p:sp>
      <p:sp>
        <p:nvSpPr>
          <p:cNvPr id="76" name="Text 74"/>
          <p:cNvSpPr txBox="1"/>
          <p:nvPr/>
        </p:nvSpPr>
        <p:spPr>
          <a:xfrm>
            <a:off x="4349496" y="4919472"/>
            <a:ext cx="162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1Q 마감 · 본사 경영보고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4258056" y="5449824"/>
            <a:ext cx="1786128" cy="658368"/>
          </a:xfrm>
          <a:prstGeom prst="roundRect">
            <a:avLst>
              <a:gd name="adj" fmla="val 694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258056" y="5449824"/>
            <a:ext cx="54864" cy="65836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79" name="Text 77"/>
          <p:cNvSpPr txBox="1"/>
          <p:nvPr/>
        </p:nvSpPr>
        <p:spPr>
          <a:xfrm>
            <a:off x="4349496" y="54772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855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P5</a:t>
            </a:r>
            <a:endParaRPr lang="en-US" sz="800" dirty="0"/>
          </a:p>
        </p:txBody>
      </p:sp>
      <p:sp>
        <p:nvSpPr>
          <p:cNvPr id="80" name="Text 78"/>
          <p:cNvSpPr txBox="1"/>
          <p:nvPr/>
        </p:nvSpPr>
        <p:spPr>
          <a:xfrm>
            <a:off x="4349496" y="5641848"/>
            <a:ext cx="162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조치추적 운영지표화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6117336" y="1783080"/>
            <a:ext cx="1786128" cy="402336"/>
          </a:xfrm>
          <a:prstGeom prst="rect">
            <a:avLst/>
          </a:prstGeom>
          <a:solidFill>
            <a:srgbClr val="1B2E4D"/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6117336" y="1783080"/>
            <a:ext cx="1786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4월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6117336" y="2185416"/>
            <a:ext cx="1786128" cy="274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6117336" y="2185416"/>
            <a:ext cx="178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하절기 준비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6117336" y="2560320"/>
            <a:ext cx="1786128" cy="658368"/>
          </a:xfrm>
          <a:prstGeom prst="roundRect">
            <a:avLst>
              <a:gd name="adj" fmla="val 694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117336" y="2560320"/>
            <a:ext cx="54864" cy="65836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6208776" y="25877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P1</a:t>
            </a:r>
            <a:endParaRPr lang="en-US" sz="800" dirty="0"/>
          </a:p>
        </p:txBody>
      </p:sp>
      <p:sp>
        <p:nvSpPr>
          <p:cNvPr id="88" name="Text 86"/>
          <p:cNvSpPr txBox="1"/>
          <p:nvPr/>
        </p:nvSpPr>
        <p:spPr>
          <a:xfrm>
            <a:off x="6208776" y="2752344"/>
            <a:ext cx="162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라인별 목표효율 재설정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6117336" y="3282696"/>
            <a:ext cx="1786128" cy="658368"/>
          </a:xfrm>
          <a:prstGeom prst="roundRect">
            <a:avLst>
              <a:gd name="adj" fmla="val 694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117336" y="3282696"/>
            <a:ext cx="54864" cy="6583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1" name="Text 89"/>
          <p:cNvSpPr txBox="1"/>
          <p:nvPr/>
        </p:nvSpPr>
        <p:spPr>
          <a:xfrm>
            <a:off x="6208776" y="33101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P2</a:t>
            </a:r>
            <a:endParaRPr lang="en-US" sz="800" dirty="0"/>
          </a:p>
        </p:txBody>
      </p:sp>
      <p:sp>
        <p:nvSpPr>
          <p:cNvPr id="92" name="Text 90"/>
          <p:cNvSpPr txBox="1"/>
          <p:nvPr/>
        </p:nvSpPr>
        <p:spPr>
          <a:xfrm>
            <a:off x="6208776" y="3474720"/>
            <a:ext cx="162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다능공 교육 1차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6117336" y="4005072"/>
            <a:ext cx="1786128" cy="658368"/>
          </a:xfrm>
          <a:prstGeom prst="roundRect">
            <a:avLst>
              <a:gd name="adj" fmla="val 694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117336" y="4005072"/>
            <a:ext cx="54864" cy="6583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5" name="Text 93"/>
          <p:cNvSpPr txBox="1"/>
          <p:nvPr/>
        </p:nvSpPr>
        <p:spPr>
          <a:xfrm>
            <a:off x="6208776" y="40325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P3</a:t>
            </a:r>
            <a:endParaRPr lang="en-US" sz="800" dirty="0"/>
          </a:p>
        </p:txBody>
      </p:sp>
      <p:sp>
        <p:nvSpPr>
          <p:cNvPr id="96" name="Text 94"/>
          <p:cNvSpPr txBox="1"/>
          <p:nvPr/>
        </p:nvSpPr>
        <p:spPr>
          <a:xfrm>
            <a:off x="6208776" y="4197096"/>
            <a:ext cx="162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하절기 대응계획(HeatWatch·물품)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6117336" y="4727448"/>
            <a:ext cx="1786128" cy="658368"/>
          </a:xfrm>
          <a:prstGeom prst="roundRect">
            <a:avLst>
              <a:gd name="adj" fmla="val 694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117336" y="4727448"/>
            <a:ext cx="54864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9" name="Text 97"/>
          <p:cNvSpPr txBox="1"/>
          <p:nvPr/>
        </p:nvSpPr>
        <p:spPr>
          <a:xfrm>
            <a:off x="6208776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P4</a:t>
            </a:r>
            <a:endParaRPr lang="en-US" sz="800" dirty="0"/>
          </a:p>
        </p:txBody>
      </p:sp>
      <p:sp>
        <p:nvSpPr>
          <p:cNvPr id="100" name="Text 98"/>
          <p:cNvSpPr txBox="1"/>
          <p:nvPr/>
        </p:nvSpPr>
        <p:spPr>
          <a:xfrm>
            <a:off x="6208776" y="4919472"/>
            <a:ext cx="162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1Q 손익 리뷰, 세탁실 정산 점검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6117336" y="5449824"/>
            <a:ext cx="1786128" cy="658368"/>
          </a:xfrm>
          <a:prstGeom prst="roundRect">
            <a:avLst>
              <a:gd name="adj" fmla="val 694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117336" y="5449824"/>
            <a:ext cx="54864" cy="65836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03" name="Text 101"/>
          <p:cNvSpPr txBox="1"/>
          <p:nvPr/>
        </p:nvSpPr>
        <p:spPr>
          <a:xfrm>
            <a:off x="6208776" y="54772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855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P5</a:t>
            </a:r>
            <a:endParaRPr lang="en-US" sz="800" dirty="0"/>
          </a:p>
        </p:txBody>
      </p:sp>
      <p:sp>
        <p:nvSpPr>
          <p:cNvPr id="104" name="Text 102"/>
          <p:cNvSpPr txBox="1"/>
          <p:nvPr/>
        </p:nvSpPr>
        <p:spPr>
          <a:xfrm>
            <a:off x="6208776" y="5641848"/>
            <a:ext cx="162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 보고 자동화 1차 적용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7976616" y="1783080"/>
            <a:ext cx="1786128" cy="402336"/>
          </a:xfrm>
          <a:prstGeom prst="rect">
            <a:avLst/>
          </a:prstGeom>
          <a:solidFill>
            <a:srgbClr val="1B2E4D"/>
          </a:solidFill>
          <a:ln/>
        </p:spPr>
      </p:sp>
      <p:sp>
        <p:nvSpPr>
          <p:cNvPr id="106" name="Text 104"/>
          <p:cNvSpPr txBox="1"/>
          <p:nvPr/>
        </p:nvSpPr>
        <p:spPr>
          <a:xfrm>
            <a:off x="7976616" y="1783080"/>
            <a:ext cx="1786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5월</a:t>
            </a:r>
            <a:endParaRPr lang="en-US" sz="1300" dirty="0"/>
          </a:p>
        </p:txBody>
      </p:sp>
      <p:sp>
        <p:nvSpPr>
          <p:cNvPr id="107" name="Shape 105"/>
          <p:cNvSpPr/>
          <p:nvPr/>
        </p:nvSpPr>
        <p:spPr>
          <a:xfrm>
            <a:off x="7976616" y="2185416"/>
            <a:ext cx="1786128" cy="274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8" name="Text 106"/>
          <p:cNvSpPr txBox="1"/>
          <p:nvPr/>
        </p:nvSpPr>
        <p:spPr>
          <a:xfrm>
            <a:off x="7976616" y="2185416"/>
            <a:ext cx="178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자체진단 1차</a:t>
            </a:r>
            <a:endParaRPr lang="en-US" sz="950" dirty="0"/>
          </a:p>
        </p:txBody>
      </p:sp>
      <p:sp>
        <p:nvSpPr>
          <p:cNvPr id="109" name="Shape 107"/>
          <p:cNvSpPr/>
          <p:nvPr/>
        </p:nvSpPr>
        <p:spPr>
          <a:xfrm>
            <a:off x="7976616" y="2560320"/>
            <a:ext cx="1786128" cy="658368"/>
          </a:xfrm>
          <a:prstGeom prst="roundRect">
            <a:avLst>
              <a:gd name="adj" fmla="val 694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976616" y="2560320"/>
            <a:ext cx="54864" cy="65836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1" name="Text 109"/>
          <p:cNvSpPr txBox="1"/>
          <p:nvPr/>
        </p:nvSpPr>
        <p:spPr>
          <a:xfrm>
            <a:off x="8068056" y="25877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P1</a:t>
            </a:r>
            <a:endParaRPr lang="en-US" sz="800" dirty="0"/>
          </a:p>
        </p:txBody>
      </p:sp>
      <p:sp>
        <p:nvSpPr>
          <p:cNvPr id="112" name="Text 110"/>
          <p:cNvSpPr txBox="1"/>
          <p:nvPr/>
        </p:nvSpPr>
        <p:spPr>
          <a:xfrm>
            <a:off x="8068056" y="2752344"/>
            <a:ext cx="162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효율 편차 주간관리 정착</a:t>
            </a:r>
            <a:endParaRPr lang="en-US" sz="850" dirty="0"/>
          </a:p>
        </p:txBody>
      </p:sp>
      <p:sp>
        <p:nvSpPr>
          <p:cNvPr id="113" name="Shape 111"/>
          <p:cNvSpPr/>
          <p:nvPr/>
        </p:nvSpPr>
        <p:spPr>
          <a:xfrm>
            <a:off x="7976616" y="3282696"/>
            <a:ext cx="1786128" cy="658368"/>
          </a:xfrm>
          <a:prstGeom prst="roundRect">
            <a:avLst>
              <a:gd name="adj" fmla="val 694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976616" y="3282696"/>
            <a:ext cx="54864" cy="6583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15" name="Text 113"/>
          <p:cNvSpPr txBox="1"/>
          <p:nvPr/>
        </p:nvSpPr>
        <p:spPr>
          <a:xfrm>
            <a:off x="8068056" y="33101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P2</a:t>
            </a:r>
            <a:endParaRPr lang="en-US" sz="800" dirty="0"/>
          </a:p>
        </p:txBody>
      </p:sp>
      <p:sp>
        <p:nvSpPr>
          <p:cNvPr id="116" name="Text 114"/>
          <p:cNvSpPr txBox="1"/>
          <p:nvPr/>
        </p:nvSpPr>
        <p:spPr>
          <a:xfrm>
            <a:off x="8068056" y="3474720"/>
            <a:ext cx="162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조장·반장 리더십 교육 1차</a:t>
            </a:r>
            <a:endParaRPr lang="en-US" sz="850" dirty="0"/>
          </a:p>
        </p:txBody>
      </p:sp>
      <p:sp>
        <p:nvSpPr>
          <p:cNvPr id="117" name="Shape 115"/>
          <p:cNvSpPr/>
          <p:nvPr/>
        </p:nvSpPr>
        <p:spPr>
          <a:xfrm>
            <a:off x="7976616" y="4005072"/>
            <a:ext cx="1786128" cy="658368"/>
          </a:xfrm>
          <a:prstGeom prst="roundRect">
            <a:avLst>
              <a:gd name="adj" fmla="val 694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976616" y="4005072"/>
            <a:ext cx="54864" cy="6583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9" name="Text 117"/>
          <p:cNvSpPr txBox="1"/>
          <p:nvPr/>
        </p:nvSpPr>
        <p:spPr>
          <a:xfrm>
            <a:off x="8068056" y="40325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P3</a:t>
            </a:r>
            <a:endParaRPr lang="en-US" sz="800" dirty="0"/>
          </a:p>
        </p:txBody>
      </p:sp>
      <p:sp>
        <p:nvSpPr>
          <p:cNvPr id="120" name="Text 118"/>
          <p:cNvSpPr txBox="1"/>
          <p:nvPr/>
        </p:nvSpPr>
        <p:spPr>
          <a:xfrm>
            <a:off x="8068056" y="4197096"/>
            <a:ext cx="162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불법파견 자체진단 1차(상반기)</a:t>
            </a:r>
            <a:endParaRPr lang="en-US" sz="850" dirty="0"/>
          </a:p>
        </p:txBody>
      </p:sp>
      <p:sp>
        <p:nvSpPr>
          <p:cNvPr id="121" name="Shape 119"/>
          <p:cNvSpPr/>
          <p:nvPr/>
        </p:nvSpPr>
        <p:spPr>
          <a:xfrm>
            <a:off x="7976616" y="4727448"/>
            <a:ext cx="1786128" cy="658368"/>
          </a:xfrm>
          <a:prstGeom prst="roundRect">
            <a:avLst>
              <a:gd name="adj" fmla="val 694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976616" y="4727448"/>
            <a:ext cx="54864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3" name="Text 121"/>
          <p:cNvSpPr txBox="1"/>
          <p:nvPr/>
        </p:nvSpPr>
        <p:spPr>
          <a:xfrm>
            <a:off x="8068056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P4</a:t>
            </a:r>
            <a:endParaRPr lang="en-US" sz="800" dirty="0"/>
          </a:p>
        </p:txBody>
      </p:sp>
      <p:sp>
        <p:nvSpPr>
          <p:cNvPr id="124" name="Text 122"/>
          <p:cNvSpPr txBox="1"/>
          <p:nvPr/>
        </p:nvSpPr>
        <p:spPr>
          <a:xfrm>
            <a:off x="8068056" y="4919472"/>
            <a:ext cx="162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4월 마감, 물량변동 인력계획</a:t>
            </a:r>
            <a:endParaRPr lang="en-US" sz="850" dirty="0"/>
          </a:p>
        </p:txBody>
      </p:sp>
      <p:sp>
        <p:nvSpPr>
          <p:cNvPr id="125" name="Shape 123"/>
          <p:cNvSpPr/>
          <p:nvPr/>
        </p:nvSpPr>
        <p:spPr>
          <a:xfrm>
            <a:off x="7976616" y="5449824"/>
            <a:ext cx="1786128" cy="658368"/>
          </a:xfrm>
          <a:prstGeom prst="roundRect">
            <a:avLst>
              <a:gd name="adj" fmla="val 694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7976616" y="5449824"/>
            <a:ext cx="54864" cy="65836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27" name="Text 125"/>
          <p:cNvSpPr txBox="1"/>
          <p:nvPr/>
        </p:nvSpPr>
        <p:spPr>
          <a:xfrm>
            <a:off x="8068056" y="54772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855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P5</a:t>
            </a:r>
            <a:endParaRPr lang="en-US" sz="800" dirty="0"/>
          </a:p>
        </p:txBody>
      </p:sp>
      <p:sp>
        <p:nvSpPr>
          <p:cNvPr id="128" name="Text 126"/>
          <p:cNvSpPr txBox="1"/>
          <p:nvPr/>
        </p:nvSpPr>
        <p:spPr>
          <a:xfrm>
            <a:off x="8068056" y="5641848"/>
            <a:ext cx="162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 사용률 점검·보완</a:t>
            </a:r>
            <a:endParaRPr lang="en-US" sz="850" dirty="0"/>
          </a:p>
        </p:txBody>
      </p:sp>
      <p:sp>
        <p:nvSpPr>
          <p:cNvPr id="129" name="Shape 127"/>
          <p:cNvSpPr/>
          <p:nvPr/>
        </p:nvSpPr>
        <p:spPr>
          <a:xfrm>
            <a:off x="9835896" y="1783080"/>
            <a:ext cx="1786128" cy="402336"/>
          </a:xfrm>
          <a:prstGeom prst="rect">
            <a:avLst/>
          </a:prstGeom>
          <a:solidFill>
            <a:srgbClr val="1B2E4D"/>
          </a:solidFill>
          <a:ln/>
        </p:spPr>
      </p:sp>
      <p:sp>
        <p:nvSpPr>
          <p:cNvPr id="130" name="Text 128"/>
          <p:cNvSpPr txBox="1"/>
          <p:nvPr/>
        </p:nvSpPr>
        <p:spPr>
          <a:xfrm>
            <a:off x="9835896" y="1783080"/>
            <a:ext cx="1786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6월</a:t>
            </a:r>
            <a:endParaRPr lang="en-US" sz="1300" dirty="0"/>
          </a:p>
        </p:txBody>
      </p:sp>
      <p:sp>
        <p:nvSpPr>
          <p:cNvPr id="131" name="Shape 129"/>
          <p:cNvSpPr/>
          <p:nvPr/>
        </p:nvSpPr>
        <p:spPr>
          <a:xfrm>
            <a:off x="9835896" y="2185416"/>
            <a:ext cx="1786128" cy="274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2" name="Text 130"/>
          <p:cNvSpPr txBox="1"/>
          <p:nvPr/>
        </p:nvSpPr>
        <p:spPr>
          <a:xfrm>
            <a:off x="9835896" y="2185416"/>
            <a:ext cx="178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상반기 마감</a:t>
            </a:r>
            <a:endParaRPr lang="en-US" sz="950" dirty="0"/>
          </a:p>
        </p:txBody>
      </p:sp>
      <p:sp>
        <p:nvSpPr>
          <p:cNvPr id="133" name="Shape 131"/>
          <p:cNvSpPr/>
          <p:nvPr/>
        </p:nvSpPr>
        <p:spPr>
          <a:xfrm>
            <a:off x="9835896" y="2560320"/>
            <a:ext cx="1786128" cy="658368"/>
          </a:xfrm>
          <a:prstGeom prst="roundRect">
            <a:avLst>
              <a:gd name="adj" fmla="val 694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9835896" y="2560320"/>
            <a:ext cx="54864" cy="65836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5" name="Text 133"/>
          <p:cNvSpPr txBox="1"/>
          <p:nvPr/>
        </p:nvSpPr>
        <p:spPr>
          <a:xfrm>
            <a:off x="9927336" y="25877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P1</a:t>
            </a:r>
            <a:endParaRPr lang="en-US" sz="800" dirty="0"/>
          </a:p>
        </p:txBody>
      </p:sp>
      <p:sp>
        <p:nvSpPr>
          <p:cNvPr id="136" name="Text 134"/>
          <p:cNvSpPr txBox="1"/>
          <p:nvPr/>
        </p:nvSpPr>
        <p:spPr>
          <a:xfrm>
            <a:off x="9927336" y="2752344"/>
            <a:ext cx="162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상반기 LOSS 실적 집계·검증</a:t>
            </a:r>
            <a:endParaRPr lang="en-US" sz="850" dirty="0"/>
          </a:p>
        </p:txBody>
      </p:sp>
      <p:sp>
        <p:nvSpPr>
          <p:cNvPr id="137" name="Shape 135"/>
          <p:cNvSpPr/>
          <p:nvPr/>
        </p:nvSpPr>
        <p:spPr>
          <a:xfrm>
            <a:off x="9835896" y="3282696"/>
            <a:ext cx="1786128" cy="658368"/>
          </a:xfrm>
          <a:prstGeom prst="roundRect">
            <a:avLst>
              <a:gd name="adj" fmla="val 694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9835896" y="3282696"/>
            <a:ext cx="54864" cy="6583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9" name="Text 137"/>
          <p:cNvSpPr txBox="1"/>
          <p:nvPr/>
        </p:nvSpPr>
        <p:spPr>
          <a:xfrm>
            <a:off x="9927336" y="33101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P2</a:t>
            </a:r>
            <a:endParaRPr lang="en-US" sz="800" dirty="0"/>
          </a:p>
        </p:txBody>
      </p:sp>
      <p:sp>
        <p:nvSpPr>
          <p:cNvPr id="140" name="Text 138"/>
          <p:cNvSpPr txBox="1"/>
          <p:nvPr/>
        </p:nvSpPr>
        <p:spPr>
          <a:xfrm>
            <a:off x="9927336" y="3474720"/>
            <a:ext cx="162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하계휴가 인력운영 계획 확정</a:t>
            </a:r>
            <a:endParaRPr lang="en-US" sz="850" dirty="0"/>
          </a:p>
        </p:txBody>
      </p:sp>
      <p:sp>
        <p:nvSpPr>
          <p:cNvPr id="141" name="Shape 139"/>
          <p:cNvSpPr/>
          <p:nvPr/>
        </p:nvSpPr>
        <p:spPr>
          <a:xfrm>
            <a:off x="9835896" y="4005072"/>
            <a:ext cx="1786128" cy="658368"/>
          </a:xfrm>
          <a:prstGeom prst="roundRect">
            <a:avLst>
              <a:gd name="adj" fmla="val 694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9835896" y="4005072"/>
            <a:ext cx="54864" cy="6583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3" name="Text 141"/>
          <p:cNvSpPr txBox="1"/>
          <p:nvPr/>
        </p:nvSpPr>
        <p:spPr>
          <a:xfrm>
            <a:off x="9927336" y="40325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P3</a:t>
            </a:r>
            <a:endParaRPr lang="en-US" sz="800" dirty="0"/>
          </a:p>
        </p:txBody>
      </p:sp>
      <p:sp>
        <p:nvSpPr>
          <p:cNvPr id="144" name="Text 142"/>
          <p:cNvSpPr txBox="1"/>
          <p:nvPr/>
        </p:nvSpPr>
        <p:spPr>
          <a:xfrm>
            <a:off x="9927336" y="4197096"/>
            <a:ext cx="162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HeatWatch 가동, 2Q 안전교육</a:t>
            </a:r>
            <a:endParaRPr lang="en-US" sz="850" dirty="0"/>
          </a:p>
        </p:txBody>
      </p:sp>
      <p:sp>
        <p:nvSpPr>
          <p:cNvPr id="145" name="Shape 143"/>
          <p:cNvSpPr/>
          <p:nvPr/>
        </p:nvSpPr>
        <p:spPr>
          <a:xfrm>
            <a:off x="9835896" y="4727448"/>
            <a:ext cx="1786128" cy="658368"/>
          </a:xfrm>
          <a:prstGeom prst="roundRect">
            <a:avLst>
              <a:gd name="adj" fmla="val 694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9835896" y="4727448"/>
            <a:ext cx="54864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7" name="Text 145"/>
          <p:cNvSpPr txBox="1"/>
          <p:nvPr/>
        </p:nvSpPr>
        <p:spPr>
          <a:xfrm>
            <a:off x="9927336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P4</a:t>
            </a:r>
            <a:endParaRPr lang="en-US" sz="800" dirty="0"/>
          </a:p>
        </p:txBody>
      </p:sp>
      <p:sp>
        <p:nvSpPr>
          <p:cNvPr id="148" name="Text 146"/>
          <p:cNvSpPr txBox="1"/>
          <p:nvPr/>
        </p:nvSpPr>
        <p:spPr>
          <a:xfrm>
            <a:off x="9927336" y="4919472"/>
            <a:ext cx="162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상반기 마감 · 2Q 경영보고</a:t>
            </a:r>
            <a:endParaRPr lang="en-US" sz="850" dirty="0"/>
          </a:p>
        </p:txBody>
      </p:sp>
      <p:sp>
        <p:nvSpPr>
          <p:cNvPr id="149" name="Shape 147"/>
          <p:cNvSpPr/>
          <p:nvPr/>
        </p:nvSpPr>
        <p:spPr>
          <a:xfrm>
            <a:off x="9835896" y="5449824"/>
            <a:ext cx="1786128" cy="658368"/>
          </a:xfrm>
          <a:prstGeom prst="roundRect">
            <a:avLst>
              <a:gd name="adj" fmla="val 694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9835896" y="5449824"/>
            <a:ext cx="54864" cy="65836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51" name="Text 149"/>
          <p:cNvSpPr txBox="1"/>
          <p:nvPr/>
        </p:nvSpPr>
        <p:spPr>
          <a:xfrm>
            <a:off x="9927336" y="54772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855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P5</a:t>
            </a:r>
            <a:endParaRPr lang="en-US" sz="800" dirty="0"/>
          </a:p>
        </p:txBody>
      </p:sp>
      <p:sp>
        <p:nvSpPr>
          <p:cNvPr id="152" name="Text 150"/>
          <p:cNvSpPr txBox="1"/>
          <p:nvPr/>
        </p:nvSpPr>
        <p:spPr>
          <a:xfrm>
            <a:off x="9927336" y="5641848"/>
            <a:ext cx="162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상반기 운영 리뷰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4864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마스터 스케줄 — 하반기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3385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8월부터 BY28 협상 트랙이 병렬로 돈다. 10월 데이터 마감이 하반기 최대 마일스톤이다.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2540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5214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8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8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제니엘 · AP 대전공장 센터 | BY27 연간 운영계획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9496" y="1783080"/>
            <a:ext cx="1786128" cy="402336"/>
          </a:xfrm>
          <a:prstGeom prst="rect">
            <a:avLst/>
          </a:prstGeom>
          <a:solidFill>
            <a:srgbClr val="1B2E4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9496" y="1783080"/>
            <a:ext cx="1786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7월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9496" y="2185416"/>
            <a:ext cx="1786128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39496" y="2185416"/>
            <a:ext cx="178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하계휴가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9496" y="2560320"/>
            <a:ext cx="1786128" cy="658368"/>
          </a:xfrm>
          <a:prstGeom prst="roundRect">
            <a:avLst>
              <a:gd name="adj" fmla="val 694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9496" y="2560320"/>
            <a:ext cx="54864" cy="65836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0936" y="25877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P1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" y="2752344"/>
            <a:ext cx="162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하한기 CAPA 대응 LOSS 관리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39496" y="3282696"/>
            <a:ext cx="1786128" cy="658368"/>
          </a:xfrm>
          <a:prstGeom prst="roundRect">
            <a:avLst>
              <a:gd name="adj" fmla="val 694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9496" y="3282696"/>
            <a:ext cx="54864" cy="6583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0936" y="33101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P2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" y="3474720"/>
            <a:ext cx="162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하계휴가 운영, 대체인력 배치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39496" y="4005072"/>
            <a:ext cx="1786128" cy="658368"/>
          </a:xfrm>
          <a:prstGeom prst="roundRect">
            <a:avLst>
              <a:gd name="adj" fmla="val 694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9496" y="4005072"/>
            <a:ext cx="54864" cy="6583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0936" y="40325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P3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630936" y="4197096"/>
            <a:ext cx="162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온열질환 예방 집중관리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39496" y="4727448"/>
            <a:ext cx="1786128" cy="658368"/>
          </a:xfrm>
          <a:prstGeom prst="roundRect">
            <a:avLst>
              <a:gd name="adj" fmla="val 694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9496" y="4727448"/>
            <a:ext cx="54864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0936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P4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630936" y="4919472"/>
            <a:ext cx="162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6월 마감, 상반기 손익 분석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39496" y="5449824"/>
            <a:ext cx="1786128" cy="658368"/>
          </a:xfrm>
          <a:prstGeom prst="roundRect">
            <a:avLst>
              <a:gd name="adj" fmla="val 694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9496" y="5449824"/>
            <a:ext cx="54864" cy="65836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30936" y="54772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855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P5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630936" y="5641848"/>
            <a:ext cx="162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정합성 감사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398776" y="1783080"/>
            <a:ext cx="1786128" cy="402336"/>
          </a:xfrm>
          <a:prstGeom prst="rect">
            <a:avLst/>
          </a:prstGeom>
          <a:solidFill>
            <a:srgbClr val="1B2E4D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2398776" y="1783080"/>
            <a:ext cx="1786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8월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398776" y="2185416"/>
            <a:ext cx="1786128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2398776" y="2185416"/>
            <a:ext cx="178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협상 D-3M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398776" y="2560320"/>
            <a:ext cx="1786128" cy="658368"/>
          </a:xfrm>
          <a:prstGeom prst="roundRect">
            <a:avLst>
              <a:gd name="adj" fmla="val 694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398776" y="2560320"/>
            <a:ext cx="54864" cy="65836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2490216" y="25877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P1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2490216" y="2752344"/>
            <a:ext cx="162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폭염 LOSS 귀책 구분기록 강화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398776" y="3282696"/>
            <a:ext cx="1786128" cy="658368"/>
          </a:xfrm>
          <a:prstGeom prst="roundRect">
            <a:avLst>
              <a:gd name="adj" fmla="val 694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398776" y="3282696"/>
            <a:ext cx="54864" cy="6583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2490216" y="33101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P2</a:t>
            </a:r>
            <a:endParaRPr lang="en-US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2490216" y="3474720"/>
            <a:ext cx="162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하반기 채용·결원 보충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398776" y="4005072"/>
            <a:ext cx="1786128" cy="658368"/>
          </a:xfrm>
          <a:prstGeom prst="roundRect">
            <a:avLst>
              <a:gd name="adj" fmla="val 694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398776" y="4005072"/>
            <a:ext cx="54864" cy="6583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2490216" y="40325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P3</a:t>
            </a:r>
            <a:endParaRPr lang="en-US" sz="800" dirty="0"/>
          </a:p>
        </p:txBody>
      </p:sp>
      <p:sp>
        <p:nvSpPr>
          <p:cNvPr id="48" name="Text 46"/>
          <p:cNvSpPr txBox="1"/>
          <p:nvPr/>
        </p:nvSpPr>
        <p:spPr>
          <a:xfrm>
            <a:off x="2490216" y="4197096"/>
            <a:ext cx="162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3Q 안전교육, 아차사고 리뷰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398776" y="4727448"/>
            <a:ext cx="1786128" cy="658368"/>
          </a:xfrm>
          <a:prstGeom prst="roundRect">
            <a:avLst>
              <a:gd name="adj" fmla="val 694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398776" y="4727448"/>
            <a:ext cx="54864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2490216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P4</a:t>
            </a:r>
            <a:endParaRPr lang="en-US" sz="800" dirty="0"/>
          </a:p>
        </p:txBody>
      </p:sp>
      <p:sp>
        <p:nvSpPr>
          <p:cNvPr id="52" name="Text 50"/>
          <p:cNvSpPr txBox="1"/>
          <p:nvPr/>
        </p:nvSpPr>
        <p:spPr>
          <a:xfrm>
            <a:off x="2490216" y="4919472"/>
            <a:ext cx="162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BY28 협상 데이터 1차 패키지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398776" y="5449824"/>
            <a:ext cx="1786128" cy="658368"/>
          </a:xfrm>
          <a:prstGeom prst="roundRect">
            <a:avLst>
              <a:gd name="adj" fmla="val 694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398776" y="5449824"/>
            <a:ext cx="54864" cy="65836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2490216" y="54772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855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P5</a:t>
            </a:r>
            <a:endParaRPr lang="en-US" sz="800" dirty="0"/>
          </a:p>
        </p:txBody>
      </p:sp>
      <p:sp>
        <p:nvSpPr>
          <p:cNvPr id="56" name="Text 54"/>
          <p:cNvSpPr txBox="1"/>
          <p:nvPr/>
        </p:nvSpPr>
        <p:spPr>
          <a:xfrm>
            <a:off x="2490216" y="5641848"/>
            <a:ext cx="162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OPL 전개 실적 집계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258056" y="1783080"/>
            <a:ext cx="1786128" cy="402336"/>
          </a:xfrm>
          <a:prstGeom prst="rect">
            <a:avLst/>
          </a:prstGeom>
          <a:solidFill>
            <a:srgbClr val="1B2E4D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4258056" y="1783080"/>
            <a:ext cx="1786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9월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4258056" y="2185416"/>
            <a:ext cx="1786128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4258056" y="2185416"/>
            <a:ext cx="178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추석·3Q 마감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258056" y="2560320"/>
            <a:ext cx="1786128" cy="658368"/>
          </a:xfrm>
          <a:prstGeom prst="roundRect">
            <a:avLst>
              <a:gd name="adj" fmla="val 694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258056" y="2560320"/>
            <a:ext cx="54864" cy="65836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4349496" y="25877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P1</a:t>
            </a:r>
            <a:endParaRPr lang="en-US" sz="800" dirty="0"/>
          </a:p>
        </p:txBody>
      </p:sp>
      <p:sp>
        <p:nvSpPr>
          <p:cNvPr id="64" name="Text 62"/>
          <p:cNvSpPr txBox="1"/>
          <p:nvPr/>
        </p:nvSpPr>
        <p:spPr>
          <a:xfrm>
            <a:off x="4349496" y="2752344"/>
            <a:ext cx="162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3Q LOSS 실적, 개선효과 검증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258056" y="3282696"/>
            <a:ext cx="1786128" cy="658368"/>
          </a:xfrm>
          <a:prstGeom prst="roundRect">
            <a:avLst>
              <a:gd name="adj" fmla="val 694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258056" y="3282696"/>
            <a:ext cx="54864" cy="6583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4349496" y="33101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P2</a:t>
            </a:r>
            <a:endParaRPr lang="en-US" sz="800" dirty="0"/>
          </a:p>
        </p:txBody>
      </p:sp>
      <p:sp>
        <p:nvSpPr>
          <p:cNvPr id="68" name="Text 66"/>
          <p:cNvSpPr txBox="1"/>
          <p:nvPr/>
        </p:nvSpPr>
        <p:spPr>
          <a:xfrm>
            <a:off x="4349496" y="3474720"/>
            <a:ext cx="162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추석 인력운영, 다능공 교육 2차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258056" y="4005072"/>
            <a:ext cx="1786128" cy="658368"/>
          </a:xfrm>
          <a:prstGeom prst="roundRect">
            <a:avLst>
              <a:gd name="adj" fmla="val 694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258056" y="4005072"/>
            <a:ext cx="54864" cy="6583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4349496" y="40325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P3</a:t>
            </a:r>
            <a:endParaRPr lang="en-US" sz="800" dirty="0"/>
          </a:p>
        </p:txBody>
      </p:sp>
      <p:sp>
        <p:nvSpPr>
          <p:cNvPr id="72" name="Text 70"/>
          <p:cNvSpPr txBox="1"/>
          <p:nvPr/>
        </p:nvSpPr>
        <p:spPr>
          <a:xfrm>
            <a:off x="4349496" y="4197096"/>
            <a:ext cx="162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위험성평가(수시·변경공정)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4258056" y="4727448"/>
            <a:ext cx="1786128" cy="658368"/>
          </a:xfrm>
          <a:prstGeom prst="roundRect">
            <a:avLst>
              <a:gd name="adj" fmla="val 694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258056" y="4727448"/>
            <a:ext cx="54864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4349496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P4</a:t>
            </a:r>
            <a:endParaRPr lang="en-US" sz="800" dirty="0"/>
          </a:p>
        </p:txBody>
      </p:sp>
      <p:sp>
        <p:nvSpPr>
          <p:cNvPr id="76" name="Text 74"/>
          <p:cNvSpPr txBox="1"/>
          <p:nvPr/>
        </p:nvSpPr>
        <p:spPr>
          <a:xfrm>
            <a:off x="4349496" y="4919472"/>
            <a:ext cx="162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3Q 마감 · 경영보고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4258056" y="5449824"/>
            <a:ext cx="1786128" cy="658368"/>
          </a:xfrm>
          <a:prstGeom prst="roundRect">
            <a:avLst>
              <a:gd name="adj" fmla="val 694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258056" y="5449824"/>
            <a:ext cx="54864" cy="65836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79" name="Text 77"/>
          <p:cNvSpPr txBox="1"/>
          <p:nvPr/>
        </p:nvSpPr>
        <p:spPr>
          <a:xfrm>
            <a:off x="4349496" y="54772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855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P5</a:t>
            </a:r>
            <a:endParaRPr lang="en-US" sz="800" dirty="0"/>
          </a:p>
        </p:txBody>
      </p:sp>
      <p:sp>
        <p:nvSpPr>
          <p:cNvPr id="80" name="Text 78"/>
          <p:cNvSpPr txBox="1"/>
          <p:nvPr/>
        </p:nvSpPr>
        <p:spPr>
          <a:xfrm>
            <a:off x="4349496" y="5641848"/>
            <a:ext cx="162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 개선 반영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6117336" y="1783080"/>
            <a:ext cx="1786128" cy="402336"/>
          </a:xfrm>
          <a:prstGeom prst="rect">
            <a:avLst/>
          </a:prstGeom>
          <a:solidFill>
            <a:srgbClr val="1B2E4D"/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6117336" y="1783080"/>
            <a:ext cx="1786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6117336" y="2185416"/>
            <a:ext cx="1786128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6117336" y="2185416"/>
            <a:ext cx="178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자체진단 2차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6117336" y="2560320"/>
            <a:ext cx="1786128" cy="658368"/>
          </a:xfrm>
          <a:prstGeom prst="roundRect">
            <a:avLst>
              <a:gd name="adj" fmla="val 694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117336" y="2560320"/>
            <a:ext cx="54864" cy="65836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6208776" y="25877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P1</a:t>
            </a:r>
            <a:endParaRPr lang="en-US" sz="800" dirty="0"/>
          </a:p>
        </p:txBody>
      </p:sp>
      <p:sp>
        <p:nvSpPr>
          <p:cNvPr id="88" name="Text 86"/>
          <p:cNvSpPr txBox="1"/>
          <p:nvPr/>
        </p:nvSpPr>
        <p:spPr>
          <a:xfrm>
            <a:off x="6208776" y="2752344"/>
            <a:ext cx="162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1~9월 LOSS 귀속 확정 데이터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6117336" y="3282696"/>
            <a:ext cx="1786128" cy="658368"/>
          </a:xfrm>
          <a:prstGeom prst="roundRect">
            <a:avLst>
              <a:gd name="adj" fmla="val 694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117336" y="3282696"/>
            <a:ext cx="54864" cy="6583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1" name="Text 89"/>
          <p:cNvSpPr txBox="1"/>
          <p:nvPr/>
        </p:nvSpPr>
        <p:spPr>
          <a:xfrm>
            <a:off x="6208776" y="33101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P2</a:t>
            </a:r>
            <a:endParaRPr lang="en-US" sz="800" dirty="0"/>
          </a:p>
        </p:txBody>
      </p:sp>
      <p:sp>
        <p:nvSpPr>
          <p:cNvPr id="92" name="Text 90"/>
          <p:cNvSpPr txBox="1"/>
          <p:nvPr/>
        </p:nvSpPr>
        <p:spPr>
          <a:xfrm>
            <a:off x="6208776" y="3474720"/>
            <a:ext cx="162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차년도 인력·조직 계획 초안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6117336" y="4005072"/>
            <a:ext cx="1786128" cy="658368"/>
          </a:xfrm>
          <a:prstGeom prst="roundRect">
            <a:avLst>
              <a:gd name="adj" fmla="val 694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117336" y="4005072"/>
            <a:ext cx="54864" cy="6583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5" name="Text 93"/>
          <p:cNvSpPr txBox="1"/>
          <p:nvPr/>
        </p:nvSpPr>
        <p:spPr>
          <a:xfrm>
            <a:off x="6208776" y="40325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P3</a:t>
            </a:r>
            <a:endParaRPr lang="en-US" sz="800" dirty="0"/>
          </a:p>
        </p:txBody>
      </p:sp>
      <p:sp>
        <p:nvSpPr>
          <p:cNvPr id="96" name="Text 94"/>
          <p:cNvSpPr txBox="1"/>
          <p:nvPr/>
        </p:nvSpPr>
        <p:spPr>
          <a:xfrm>
            <a:off x="6208776" y="4197096"/>
            <a:ext cx="162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불법파견 자체진단 2차(하반기)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6117336" y="4727448"/>
            <a:ext cx="1786128" cy="658368"/>
          </a:xfrm>
          <a:prstGeom prst="roundRect">
            <a:avLst>
              <a:gd name="adj" fmla="val 694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117336" y="4727448"/>
            <a:ext cx="54864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9" name="Text 97"/>
          <p:cNvSpPr txBox="1"/>
          <p:nvPr/>
        </p:nvSpPr>
        <p:spPr>
          <a:xfrm>
            <a:off x="6208776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P4</a:t>
            </a:r>
            <a:endParaRPr lang="en-US" sz="800" dirty="0"/>
          </a:p>
        </p:txBody>
      </p:sp>
      <p:sp>
        <p:nvSpPr>
          <p:cNvPr id="100" name="Text 98"/>
          <p:cNvSpPr txBox="1"/>
          <p:nvPr/>
        </p:nvSpPr>
        <p:spPr>
          <a:xfrm>
            <a:off x="6208776" y="4919472"/>
            <a:ext cx="162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BY28 단가 산출내역서 작성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6117336" y="5449824"/>
            <a:ext cx="1786128" cy="658368"/>
          </a:xfrm>
          <a:prstGeom prst="roundRect">
            <a:avLst>
              <a:gd name="adj" fmla="val 694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117336" y="5449824"/>
            <a:ext cx="54864" cy="65836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03" name="Text 101"/>
          <p:cNvSpPr txBox="1"/>
          <p:nvPr/>
        </p:nvSpPr>
        <p:spPr>
          <a:xfrm>
            <a:off x="6208776" y="54772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855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P5</a:t>
            </a:r>
            <a:endParaRPr lang="en-US" sz="800" dirty="0"/>
          </a:p>
        </p:txBody>
      </p:sp>
      <p:sp>
        <p:nvSpPr>
          <p:cNvPr id="104" name="Text 102"/>
          <p:cNvSpPr txBox="1"/>
          <p:nvPr/>
        </p:nvSpPr>
        <p:spPr>
          <a:xfrm>
            <a:off x="6208776" y="5641848"/>
            <a:ext cx="162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협상용 데이터 대시보드 완성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7976616" y="1783080"/>
            <a:ext cx="1786128" cy="402336"/>
          </a:xfrm>
          <a:prstGeom prst="rect">
            <a:avLst/>
          </a:prstGeom>
          <a:solidFill>
            <a:srgbClr val="1B2E4D"/>
          </a:solidFill>
          <a:ln/>
        </p:spPr>
      </p:sp>
      <p:sp>
        <p:nvSpPr>
          <p:cNvPr id="106" name="Text 104"/>
          <p:cNvSpPr txBox="1"/>
          <p:nvPr/>
        </p:nvSpPr>
        <p:spPr>
          <a:xfrm>
            <a:off x="7976616" y="1783080"/>
            <a:ext cx="1786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11월</a:t>
            </a:r>
            <a:endParaRPr lang="en-US" sz="1300" dirty="0"/>
          </a:p>
        </p:txBody>
      </p:sp>
      <p:sp>
        <p:nvSpPr>
          <p:cNvPr id="107" name="Shape 105"/>
          <p:cNvSpPr/>
          <p:nvPr/>
        </p:nvSpPr>
        <p:spPr>
          <a:xfrm>
            <a:off x="7976616" y="2185416"/>
            <a:ext cx="1786128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8" name="Text 106"/>
          <p:cNvSpPr txBox="1"/>
          <p:nvPr/>
        </p:nvSpPr>
        <p:spPr>
          <a:xfrm>
            <a:off x="7976616" y="2185416"/>
            <a:ext cx="178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BY28 협상</a:t>
            </a:r>
            <a:endParaRPr lang="en-US" sz="950" dirty="0"/>
          </a:p>
        </p:txBody>
      </p:sp>
      <p:sp>
        <p:nvSpPr>
          <p:cNvPr id="109" name="Shape 107"/>
          <p:cNvSpPr/>
          <p:nvPr/>
        </p:nvSpPr>
        <p:spPr>
          <a:xfrm>
            <a:off x="7976616" y="2560320"/>
            <a:ext cx="1786128" cy="658368"/>
          </a:xfrm>
          <a:prstGeom prst="roundRect">
            <a:avLst>
              <a:gd name="adj" fmla="val 694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976616" y="2560320"/>
            <a:ext cx="54864" cy="65836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1" name="Text 109"/>
          <p:cNvSpPr txBox="1"/>
          <p:nvPr/>
        </p:nvSpPr>
        <p:spPr>
          <a:xfrm>
            <a:off x="8068056" y="25877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P1</a:t>
            </a:r>
            <a:endParaRPr lang="en-US" sz="800" dirty="0"/>
          </a:p>
        </p:txBody>
      </p:sp>
      <p:sp>
        <p:nvSpPr>
          <p:cNvPr id="112" name="Text 110"/>
          <p:cNvSpPr txBox="1"/>
          <p:nvPr/>
        </p:nvSpPr>
        <p:spPr>
          <a:xfrm>
            <a:off x="8068056" y="2752344"/>
            <a:ext cx="162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원청귀책 근거 사유별 정리</a:t>
            </a:r>
            <a:endParaRPr lang="en-US" sz="850" dirty="0"/>
          </a:p>
        </p:txBody>
      </p:sp>
      <p:sp>
        <p:nvSpPr>
          <p:cNvPr id="113" name="Shape 111"/>
          <p:cNvSpPr/>
          <p:nvPr/>
        </p:nvSpPr>
        <p:spPr>
          <a:xfrm>
            <a:off x="7976616" y="3282696"/>
            <a:ext cx="1786128" cy="658368"/>
          </a:xfrm>
          <a:prstGeom prst="roundRect">
            <a:avLst>
              <a:gd name="adj" fmla="val 694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976616" y="3282696"/>
            <a:ext cx="54864" cy="6583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15" name="Text 113"/>
          <p:cNvSpPr txBox="1"/>
          <p:nvPr/>
        </p:nvSpPr>
        <p:spPr>
          <a:xfrm>
            <a:off x="8068056" y="33101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P2</a:t>
            </a:r>
            <a:endParaRPr lang="en-US" sz="800" dirty="0"/>
          </a:p>
        </p:txBody>
      </p:sp>
      <p:sp>
        <p:nvSpPr>
          <p:cNvPr id="116" name="Text 114"/>
          <p:cNvSpPr txBox="1"/>
          <p:nvPr/>
        </p:nvSpPr>
        <p:spPr>
          <a:xfrm>
            <a:off x="8068056" y="3474720"/>
            <a:ext cx="162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차년도 인력계획 확정</a:t>
            </a:r>
            <a:endParaRPr lang="en-US" sz="850" dirty="0"/>
          </a:p>
        </p:txBody>
      </p:sp>
      <p:sp>
        <p:nvSpPr>
          <p:cNvPr id="117" name="Shape 115"/>
          <p:cNvSpPr/>
          <p:nvPr/>
        </p:nvSpPr>
        <p:spPr>
          <a:xfrm>
            <a:off x="7976616" y="4005072"/>
            <a:ext cx="1786128" cy="658368"/>
          </a:xfrm>
          <a:prstGeom prst="roundRect">
            <a:avLst>
              <a:gd name="adj" fmla="val 694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976616" y="4005072"/>
            <a:ext cx="54864" cy="6583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9" name="Text 117"/>
          <p:cNvSpPr txBox="1"/>
          <p:nvPr/>
        </p:nvSpPr>
        <p:spPr>
          <a:xfrm>
            <a:off x="8068056" y="40325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P3</a:t>
            </a:r>
            <a:endParaRPr lang="en-US" sz="800" dirty="0"/>
          </a:p>
        </p:txBody>
      </p:sp>
      <p:sp>
        <p:nvSpPr>
          <p:cNvPr id="120" name="Text 118"/>
          <p:cNvSpPr txBox="1"/>
          <p:nvPr/>
        </p:nvSpPr>
        <p:spPr>
          <a:xfrm>
            <a:off x="8068056" y="4197096"/>
            <a:ext cx="162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4Q 안전보건교육</a:t>
            </a:r>
            <a:endParaRPr lang="en-US" sz="850" dirty="0"/>
          </a:p>
        </p:txBody>
      </p:sp>
      <p:sp>
        <p:nvSpPr>
          <p:cNvPr id="121" name="Shape 119"/>
          <p:cNvSpPr/>
          <p:nvPr/>
        </p:nvSpPr>
        <p:spPr>
          <a:xfrm>
            <a:off x="7976616" y="4727448"/>
            <a:ext cx="1786128" cy="658368"/>
          </a:xfrm>
          <a:prstGeom prst="roundRect">
            <a:avLst>
              <a:gd name="adj" fmla="val 694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976616" y="4727448"/>
            <a:ext cx="54864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3" name="Text 121"/>
          <p:cNvSpPr txBox="1"/>
          <p:nvPr/>
        </p:nvSpPr>
        <p:spPr>
          <a:xfrm>
            <a:off x="8068056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P4</a:t>
            </a:r>
            <a:endParaRPr lang="en-US" sz="800" dirty="0"/>
          </a:p>
        </p:txBody>
      </p:sp>
      <p:sp>
        <p:nvSpPr>
          <p:cNvPr id="124" name="Text 122"/>
          <p:cNvSpPr txBox="1"/>
          <p:nvPr/>
        </p:nvSpPr>
        <p:spPr>
          <a:xfrm>
            <a:off x="8068056" y="4919472"/>
            <a:ext cx="162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BY28 단가협상 테이블 대응</a:t>
            </a:r>
            <a:endParaRPr lang="en-US" sz="850" dirty="0"/>
          </a:p>
        </p:txBody>
      </p:sp>
      <p:sp>
        <p:nvSpPr>
          <p:cNvPr id="125" name="Shape 123"/>
          <p:cNvSpPr/>
          <p:nvPr/>
        </p:nvSpPr>
        <p:spPr>
          <a:xfrm>
            <a:off x="7976616" y="5449824"/>
            <a:ext cx="1786128" cy="658368"/>
          </a:xfrm>
          <a:prstGeom prst="roundRect">
            <a:avLst>
              <a:gd name="adj" fmla="val 694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7976616" y="5449824"/>
            <a:ext cx="54864" cy="65836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27" name="Text 125"/>
          <p:cNvSpPr txBox="1"/>
          <p:nvPr/>
        </p:nvSpPr>
        <p:spPr>
          <a:xfrm>
            <a:off x="8068056" y="54772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855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P5</a:t>
            </a:r>
            <a:endParaRPr lang="en-US" sz="800" dirty="0"/>
          </a:p>
        </p:txBody>
      </p:sp>
      <p:sp>
        <p:nvSpPr>
          <p:cNvPr id="128" name="Text 126"/>
          <p:cNvSpPr txBox="1"/>
          <p:nvPr/>
        </p:nvSpPr>
        <p:spPr>
          <a:xfrm>
            <a:off x="8068056" y="5641848"/>
            <a:ext cx="162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차년도 보고체계 개편안</a:t>
            </a:r>
            <a:endParaRPr lang="en-US" sz="850" dirty="0"/>
          </a:p>
        </p:txBody>
      </p:sp>
      <p:sp>
        <p:nvSpPr>
          <p:cNvPr id="129" name="Shape 127"/>
          <p:cNvSpPr/>
          <p:nvPr/>
        </p:nvSpPr>
        <p:spPr>
          <a:xfrm>
            <a:off x="9835896" y="1783080"/>
            <a:ext cx="1786128" cy="402336"/>
          </a:xfrm>
          <a:prstGeom prst="rect">
            <a:avLst/>
          </a:prstGeom>
          <a:solidFill>
            <a:srgbClr val="1B2E4D"/>
          </a:solidFill>
          <a:ln/>
        </p:spPr>
      </p:sp>
      <p:sp>
        <p:nvSpPr>
          <p:cNvPr id="130" name="Text 128"/>
          <p:cNvSpPr txBox="1"/>
          <p:nvPr/>
        </p:nvSpPr>
        <p:spPr>
          <a:xfrm>
            <a:off x="9835896" y="1783080"/>
            <a:ext cx="1786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12월</a:t>
            </a:r>
            <a:endParaRPr lang="en-US" sz="1300" dirty="0"/>
          </a:p>
        </p:txBody>
      </p:sp>
      <p:sp>
        <p:nvSpPr>
          <p:cNvPr id="131" name="Shape 129"/>
          <p:cNvSpPr/>
          <p:nvPr/>
        </p:nvSpPr>
        <p:spPr>
          <a:xfrm>
            <a:off x="9835896" y="2185416"/>
            <a:ext cx="1786128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2" name="Text 130"/>
          <p:cNvSpPr txBox="1"/>
          <p:nvPr/>
        </p:nvSpPr>
        <p:spPr>
          <a:xfrm>
            <a:off x="9835896" y="2185416"/>
            <a:ext cx="178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연말 결산</a:t>
            </a:r>
            <a:endParaRPr lang="en-US" sz="950" dirty="0"/>
          </a:p>
        </p:txBody>
      </p:sp>
      <p:sp>
        <p:nvSpPr>
          <p:cNvPr id="133" name="Shape 131"/>
          <p:cNvSpPr/>
          <p:nvPr/>
        </p:nvSpPr>
        <p:spPr>
          <a:xfrm>
            <a:off x="9835896" y="2560320"/>
            <a:ext cx="1786128" cy="658368"/>
          </a:xfrm>
          <a:prstGeom prst="roundRect">
            <a:avLst>
              <a:gd name="adj" fmla="val 694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9835896" y="2560320"/>
            <a:ext cx="54864" cy="65836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5" name="Text 133"/>
          <p:cNvSpPr txBox="1"/>
          <p:nvPr/>
        </p:nvSpPr>
        <p:spPr>
          <a:xfrm>
            <a:off x="9927336" y="25877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P1</a:t>
            </a:r>
            <a:endParaRPr lang="en-US" sz="800" dirty="0"/>
          </a:p>
        </p:txBody>
      </p:sp>
      <p:sp>
        <p:nvSpPr>
          <p:cNvPr id="136" name="Text 134"/>
          <p:cNvSpPr txBox="1"/>
          <p:nvPr/>
        </p:nvSpPr>
        <p:spPr>
          <a:xfrm>
            <a:off x="9927336" y="2752344"/>
            <a:ext cx="162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BY27 LOSS 결산</a:t>
            </a:r>
            <a:endParaRPr lang="en-US" sz="850" dirty="0"/>
          </a:p>
        </p:txBody>
      </p:sp>
      <p:sp>
        <p:nvSpPr>
          <p:cNvPr id="137" name="Shape 135"/>
          <p:cNvSpPr/>
          <p:nvPr/>
        </p:nvSpPr>
        <p:spPr>
          <a:xfrm>
            <a:off x="9835896" y="3282696"/>
            <a:ext cx="1786128" cy="658368"/>
          </a:xfrm>
          <a:prstGeom prst="roundRect">
            <a:avLst>
              <a:gd name="adj" fmla="val 694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9835896" y="3282696"/>
            <a:ext cx="54864" cy="6583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9" name="Text 137"/>
          <p:cNvSpPr txBox="1"/>
          <p:nvPr/>
        </p:nvSpPr>
        <p:spPr>
          <a:xfrm>
            <a:off x="9927336" y="33101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P2</a:t>
            </a:r>
            <a:endParaRPr lang="en-US" sz="800" dirty="0"/>
          </a:p>
        </p:txBody>
      </p:sp>
      <p:sp>
        <p:nvSpPr>
          <p:cNvPr id="140" name="Text 138"/>
          <p:cNvSpPr txBox="1"/>
          <p:nvPr/>
        </p:nvSpPr>
        <p:spPr>
          <a:xfrm>
            <a:off x="9927336" y="3474720"/>
            <a:ext cx="162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교육 이수 마감, 인사평가</a:t>
            </a:r>
            <a:endParaRPr lang="en-US" sz="850" dirty="0"/>
          </a:p>
        </p:txBody>
      </p:sp>
      <p:sp>
        <p:nvSpPr>
          <p:cNvPr id="141" name="Shape 139"/>
          <p:cNvSpPr/>
          <p:nvPr/>
        </p:nvSpPr>
        <p:spPr>
          <a:xfrm>
            <a:off x="9835896" y="4005072"/>
            <a:ext cx="1786128" cy="658368"/>
          </a:xfrm>
          <a:prstGeom prst="roundRect">
            <a:avLst>
              <a:gd name="adj" fmla="val 694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9835896" y="4005072"/>
            <a:ext cx="54864" cy="6583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3" name="Text 141"/>
          <p:cNvSpPr txBox="1"/>
          <p:nvPr/>
        </p:nvSpPr>
        <p:spPr>
          <a:xfrm>
            <a:off x="9927336" y="40325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P3</a:t>
            </a:r>
            <a:endParaRPr lang="en-US" sz="800" dirty="0"/>
          </a:p>
        </p:txBody>
      </p:sp>
      <p:sp>
        <p:nvSpPr>
          <p:cNvPr id="144" name="Text 142"/>
          <p:cNvSpPr txBox="1"/>
          <p:nvPr/>
        </p:nvSpPr>
        <p:spPr>
          <a:xfrm>
            <a:off x="9927336" y="4197096"/>
            <a:ext cx="162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안전보건 실적평가</a:t>
            </a:r>
            <a:endParaRPr lang="en-US" sz="850" dirty="0"/>
          </a:p>
        </p:txBody>
      </p:sp>
      <p:sp>
        <p:nvSpPr>
          <p:cNvPr id="145" name="Shape 143"/>
          <p:cNvSpPr/>
          <p:nvPr/>
        </p:nvSpPr>
        <p:spPr>
          <a:xfrm>
            <a:off x="9835896" y="4727448"/>
            <a:ext cx="1786128" cy="658368"/>
          </a:xfrm>
          <a:prstGeom prst="roundRect">
            <a:avLst>
              <a:gd name="adj" fmla="val 694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9835896" y="4727448"/>
            <a:ext cx="54864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7" name="Text 145"/>
          <p:cNvSpPr txBox="1"/>
          <p:nvPr/>
        </p:nvSpPr>
        <p:spPr>
          <a:xfrm>
            <a:off x="9927336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P4</a:t>
            </a:r>
            <a:endParaRPr lang="en-US" sz="800" dirty="0"/>
          </a:p>
        </p:txBody>
      </p:sp>
      <p:sp>
        <p:nvSpPr>
          <p:cNvPr id="148" name="Text 146"/>
          <p:cNvSpPr txBox="1"/>
          <p:nvPr/>
        </p:nvSpPr>
        <p:spPr>
          <a:xfrm>
            <a:off x="9927336" y="4919472"/>
            <a:ext cx="162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연말 마감 · BY27 결산보고</a:t>
            </a:r>
            <a:endParaRPr lang="en-US" sz="850" dirty="0"/>
          </a:p>
        </p:txBody>
      </p:sp>
      <p:sp>
        <p:nvSpPr>
          <p:cNvPr id="149" name="Shape 147"/>
          <p:cNvSpPr/>
          <p:nvPr/>
        </p:nvSpPr>
        <p:spPr>
          <a:xfrm>
            <a:off x="9835896" y="5449824"/>
            <a:ext cx="1786128" cy="658368"/>
          </a:xfrm>
          <a:prstGeom prst="roundRect">
            <a:avLst>
              <a:gd name="adj" fmla="val 694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9835896" y="5449824"/>
            <a:ext cx="54864" cy="65836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51" name="Text 149"/>
          <p:cNvSpPr txBox="1"/>
          <p:nvPr/>
        </p:nvSpPr>
        <p:spPr>
          <a:xfrm>
            <a:off x="9927336" y="54772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855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P5</a:t>
            </a:r>
            <a:endParaRPr lang="en-US" sz="800" dirty="0"/>
          </a:p>
        </p:txBody>
      </p:sp>
      <p:sp>
        <p:nvSpPr>
          <p:cNvPr id="152" name="Text 150"/>
          <p:cNvSpPr txBox="1"/>
          <p:nvPr/>
        </p:nvSpPr>
        <p:spPr>
          <a:xfrm>
            <a:off x="9927336" y="5641848"/>
            <a:ext cx="1621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BY28 운영계획 확정·배포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IMPACT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4864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기대효과 — 금액 환산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3385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LOSS 비용과 효율 GAP은 성격이 다르다. 전자는 정산 근거, 후자는 KPI 미달의 기회비용이다.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2540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5214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8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8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제니엘 · AP 대전공장 센터 | BY27 연간 운영계획</a:t>
            </a:r>
            <a:endParaRPr lang="en-US" sz="9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02920" y="1874520"/>
          <a:ext cx="553212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6172200" y="1874520"/>
            <a:ext cx="5486400" cy="3063240"/>
          </a:xfrm>
          <a:prstGeom prst="roundRect">
            <a:avLst>
              <a:gd name="adj" fmla="val 1791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19088" y="1993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 근거 (AP 2축 · 244명)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19088" y="2331720"/>
            <a:ext cx="4983480" cy="384048"/>
          </a:xfrm>
          <a:prstGeom prst="rect">
            <a:avLst/>
          </a:prstGeom>
          <a:solidFill>
            <a:srgbClr val="1B2E4D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510528" y="23317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총공수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7973568" y="2331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8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244명 × 174 M·H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802368" y="233172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42,456 M·H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510528" y="273405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LOSS 공수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7973568" y="273405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8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42,456 × 6.0%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9802368" y="273405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2,547 M·H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419088" y="3136392"/>
            <a:ext cx="4983480" cy="384048"/>
          </a:xfrm>
          <a:prstGeom prst="rect">
            <a:avLst/>
          </a:prstGeom>
          <a:solidFill>
            <a:srgbClr val="1B2E4D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510528" y="313639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도급귀책분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7973568" y="31363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8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2,547 × 48%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9802368" y="313639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1,223 M·H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6510528" y="35387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도급귀책 비용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7973568" y="35387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8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1,223 × 35,121원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9802368" y="353872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4,295만원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419088" y="3941064"/>
            <a:ext cx="4983480" cy="384048"/>
          </a:xfrm>
          <a:prstGeom prst="rect">
            <a:avLst/>
          </a:prstGeom>
          <a:solidFill>
            <a:srgbClr val="1B2E4D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510528" y="394106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환산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7973568" y="39410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8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12개월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9802368" y="394106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5.15억원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6510528" y="43434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-15% 저감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7973568" y="43434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8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5.15억 × 15%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9802368" y="43434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7,730만원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6419088" y="4773168"/>
            <a:ext cx="4983480" cy="0"/>
          </a:xfrm>
          <a:prstGeom prst="line">
            <a:avLst/>
          </a:prstGeom>
          <a:noFill/>
          <a:ln w="12700">
            <a:solidFill>
              <a:srgbClr val="25405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02920" y="5102352"/>
            <a:ext cx="5532120" cy="841248"/>
          </a:xfrm>
          <a:prstGeom prst="roundRect">
            <a:avLst>
              <a:gd name="adj" fmla="val 6522"/>
            </a:avLst>
          </a:prstGeom>
          <a:solidFill>
            <a:srgbClr val="1B2E4D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77240" y="519379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효율 GAP 환산  </a:t>
            </a:r>
            <a:pPr indent="0" marL="0">
              <a:buNone/>
            </a:pPr>
            <a:r>
              <a:rPr lang="en-US" sz="1500" b="1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3.58억원</a:t>
            </a:r>
            <a:endParaRPr lang="en-US" sz="1150" dirty="0"/>
          </a:p>
        </p:txBody>
      </p:sp>
      <p:sp>
        <p:nvSpPr>
          <p:cNvPr id="36" name="Text 33"/>
          <p:cNvSpPr txBox="1"/>
          <p:nvPr/>
        </p:nvSpPr>
        <p:spPr>
          <a:xfrm>
            <a:off x="777240" y="550468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42,456 M·H × 2.0%p × 35,121원 × 12개월. LOSS 외 운영 효율 저하분 — 절감액과 합산하지 않는다.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6172200" y="5102352"/>
            <a:ext cx="5486400" cy="841248"/>
          </a:xfrm>
          <a:prstGeom prst="roundRect">
            <a:avLst>
              <a:gd name="adj" fmla="val 6522"/>
            </a:avLst>
          </a:prstGeom>
          <a:solidFill>
            <a:srgbClr val="1B2E4D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419088" y="519379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코스비전 2축(110명) 미산입  </a:t>
            </a:r>
            <a:pPr indent="0" marL="0">
              <a:buNone/>
            </a:pPr>
            <a:r>
              <a:rPr lang="en-US" sz="1300" b="1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임률 미확보</a:t>
            </a:r>
            <a:endParaRPr lang="en-US" sz="1150" dirty="0"/>
          </a:p>
        </p:txBody>
      </p:sp>
      <p:sp>
        <p:nvSpPr>
          <p:cNvPr id="39" name="Text 36"/>
          <p:cNvSpPr txBox="1"/>
          <p:nvPr/>
        </p:nvSpPr>
        <p:spPr>
          <a:xfrm>
            <a:off x="6419088" y="5504688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 임률을 코스비전에 그대로 적용하면 정산·협상에서 깨진다. 임률 확보 후 엑셀 모델에서 자동 산출.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RISK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4864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리스크 등록부 — 우선순위 상위 5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3385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R1·R5는 발생 시 계약·손익에 직접 타격. 나머지 과제보다 먼저 자원을 배분한다.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2540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5214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8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8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제니엘 · AP 대전공장 센터 | BY27 연간 운영계획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11155680" cy="914400"/>
        </p:xfrm>
        <a:graphic>
          <a:graphicData uri="http://schemas.openxmlformats.org/drawingml/2006/table">
            <a:tbl>
              <a:tblPr/>
              <a:tblGrid>
                <a:gridCol w="566928"/>
                <a:gridCol w="658368"/>
                <a:gridCol w="3246120"/>
                <a:gridCol w="566928"/>
                <a:gridCol w="566928"/>
                <a:gridCol w="3950208"/>
                <a:gridCol w="841248"/>
                <a:gridCol w="758952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ID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리스크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영향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대응 방안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점검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7AEC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불법파견(위장도급) 판정 — 현장 직접 지시·근태 직접관리 적발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8A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C4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中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FE0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지시는 도급사 관리라인(조장·반장) 경유 표준화 · 반기 자체진단 130항목 · 지시기록 보존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7AEC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센터장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7AEC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반기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7AEC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계약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BY28 단가 인상 미달 — 손익 악화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8A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C4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中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FE0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1~10월 LOSS 귀속 근거 축적 · 단가 산출내역서 정교화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7AEC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센터장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7AEC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분기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7AEC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중대재해 발생 — 중대재해처벌법 수사·가동 중단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8A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0E39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低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FE0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연간 안전보건계획 · 위험성평가(정기/수시) · 아차사고 신고제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7AEC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안전담당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7AEC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R4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7AEC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인력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결원율 상승 — 잔업·대체 비용 증가, 효율 저하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C4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中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8A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FE0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채용 파이프라인 상시화 · 입사 4주 온보딩 · 다능공 확대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7AEC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인사담당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7AEC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7AEC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품질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F0F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도급귀책 클레임 증가 — BY28 단가협상 불리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C4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中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C4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中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FE0F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초·중·종물 검사 준수율 관리 · OPL 즉시 전개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7AEC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품질담당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7AEC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40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02920" y="5074920"/>
            <a:ext cx="11155680" cy="868680"/>
          </a:xfrm>
          <a:prstGeom prst="roundRect">
            <a:avLst>
              <a:gd name="adj" fmla="val 6316"/>
            </a:avLst>
          </a:prstGeom>
          <a:solidFill>
            <a:srgbClr val="1B2E4D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2920" y="5074920"/>
            <a:ext cx="82296" cy="8686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" y="50749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지휘 원칙   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작업자에 대한 지시는 반드시 도급사 관리라인을 경유한다. 354명은 직접 지휘 대상이 아니라 관리라인을 통한 간접 통솔 대상이며, 직접 지휘·근태 직접관리는 불법파견 판정의 직접 근거가 된다. 한 건의 예외가 다음 협상과 노무 분쟁의 선례가 된다.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OPERATING RHYTHM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4864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체계 — 계획을 굴리는 정기 루틴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3385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연간계획은 주기 업무로 분해되지 않으면 12월에 미달로 끝난다.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2540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5214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8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8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제니엘 · AP 대전공장 센터 | BY27 연간 운영계획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783080"/>
            <a:ext cx="7360920" cy="566928"/>
          </a:xfrm>
          <a:prstGeom prst="roundRect">
            <a:avLst>
              <a:gd name="adj" fmla="val 9677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783080"/>
            <a:ext cx="82296" cy="56692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178308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일간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1783080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조회(관리라인 경유) · 전일 LOSS/결원 확인 · 현장 안전순회 · 이슈 에스컬레이션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441448"/>
            <a:ext cx="7360920" cy="566928"/>
          </a:xfrm>
          <a:prstGeom prst="roundRect">
            <a:avLst>
              <a:gd name="adj" fmla="val 9677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441448"/>
            <a:ext cx="82296" cy="56692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244144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주간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691640" y="2441448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월: 주간생산계획 업로드·배포 / 수: 조장회의 / 금: 주간 실적·효율 리뷰 및 차주 인력배치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099816"/>
            <a:ext cx="7360920" cy="566928"/>
          </a:xfrm>
          <a:prstGeom prst="roundRect">
            <a:avLst>
              <a:gd name="adj" fmla="val 9677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099816"/>
            <a:ext cx="82296" cy="56692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3099816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월간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691640" y="3099816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월마감 정산(D+3) · 본사 월간 경영보고 · 안전보건협의체 · 교육 이수 점검 · 지연오더 취합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3758184"/>
            <a:ext cx="7360920" cy="566928"/>
          </a:xfrm>
          <a:prstGeom prst="roundRect">
            <a:avLst>
              <a:gd name="adj" fmla="val 9677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758184"/>
            <a:ext cx="82296" cy="56692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1520" y="3758184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분기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691640" y="3758184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분기 경영보고 · 법정 안전보건교육 · 위험성평가 · KPI 목표 대비 실적 리뷰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4416552"/>
            <a:ext cx="7360920" cy="566928"/>
          </a:xfrm>
          <a:prstGeom prst="roundRect">
            <a:avLst>
              <a:gd name="adj" fmla="val 9677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4416552"/>
            <a:ext cx="82296" cy="56692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31520" y="441655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반기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691640" y="4416552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불법파견 자체진단 · 인사평가 · 인력계획 재수립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" y="5074920"/>
            <a:ext cx="7360920" cy="566928"/>
          </a:xfrm>
          <a:prstGeom prst="roundRect">
            <a:avLst>
              <a:gd name="adj" fmla="val 9677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5074920"/>
            <a:ext cx="82296" cy="56692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31520" y="507492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691640" y="5074920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안전보건계획 수립 · BY28 단가협상 · 차년도 운영계획 확정 · 결산보고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046720" y="1783080"/>
            <a:ext cx="3611880" cy="4160520"/>
          </a:xfrm>
          <a:prstGeom prst="roundRect">
            <a:avLst>
              <a:gd name="adj" fmla="val 1519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84464" y="1901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855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 연계 — ZEN 플랫폼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284464" y="2286000"/>
            <a:ext cx="3154680" cy="603504"/>
          </a:xfrm>
          <a:prstGeom prst="roundRect">
            <a:avLst>
              <a:gd name="adj" fmla="val 7576"/>
            </a:avLst>
          </a:prstGeom>
          <a:solidFill>
            <a:srgbClr val="1B2E4D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430768" y="234086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주간계획 업로드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8430768" y="259689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LOSS·인력·조치추적 자동 산출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284464" y="2999232"/>
            <a:ext cx="3154680" cy="603504"/>
          </a:xfrm>
          <a:prstGeom prst="roundRect">
            <a:avLst>
              <a:gd name="adj" fmla="val 7576"/>
            </a:avLst>
          </a:prstGeom>
          <a:solidFill>
            <a:srgbClr val="1B2E4D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430768" y="305409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지연오더 취합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430768" y="331012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월별 지연 오더 자동 집계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284464" y="3712464"/>
            <a:ext cx="3154680" cy="603504"/>
          </a:xfrm>
          <a:prstGeom prst="roundRect">
            <a:avLst>
              <a:gd name="adj" fmla="val 7576"/>
            </a:avLst>
          </a:prstGeom>
          <a:solidFill>
            <a:srgbClr val="1B2E4D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430768" y="37673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HeatWatch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8430768" y="402336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하절기 체감온도·휴식 알림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284464" y="4425696"/>
            <a:ext cx="3154680" cy="603504"/>
          </a:xfrm>
          <a:prstGeom prst="roundRect">
            <a:avLst>
              <a:gd name="adj" fmla="val 7576"/>
            </a:avLst>
          </a:prstGeom>
          <a:solidFill>
            <a:srgbClr val="1B2E4D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430768" y="44805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OPL Generator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8430768" y="473659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적발 → 교육자료 즉시 생성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284464" y="5138928"/>
            <a:ext cx="3154680" cy="603504"/>
          </a:xfrm>
          <a:prstGeom prst="roundRect">
            <a:avLst>
              <a:gd name="adj" fmla="val 7576"/>
            </a:avLst>
          </a:prstGeom>
          <a:solidFill>
            <a:srgbClr val="1B2E4D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430768" y="51937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월간 보고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430768" y="544982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4축 분리 경영보고 자동 작성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DECISION REQUIRED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4864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본사·원청 결정 요청 사항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3385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 5건은 센터 단독으로 확정할 수 없다. 미결 시 계획의 금액 효과가 확정되지 않는다.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2540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5214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8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8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제니엘 · AP 대전공장 센터 | BY27 연간 운영계획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783080"/>
            <a:ext cx="11155680" cy="713232"/>
          </a:xfrm>
          <a:prstGeom prst="roundRect">
            <a:avLst>
              <a:gd name="adj" fmla="val 7692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1920240"/>
            <a:ext cx="438912" cy="43891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1920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298448" y="18379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BY27 계약유형별 확정 임률 공유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298448" y="213055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 업무도급·코스비전 2축 임률이 없어 시뮬레이션이 AP 생산도급 중심으로만 산출된다.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326880" y="2020824"/>
            <a:ext cx="868680" cy="237744"/>
          </a:xfrm>
          <a:prstGeom prst="roundRect">
            <a:avLst>
              <a:gd name="adj" fmla="val 3846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326880" y="20208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1월 내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314432" y="1783080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 / 계약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2606040"/>
            <a:ext cx="11155680" cy="713232"/>
          </a:xfrm>
          <a:prstGeom prst="roundRect">
            <a:avLst>
              <a:gd name="adj" fmla="val 7692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743200"/>
            <a:ext cx="438912" cy="43891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3232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298448" y="26609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코스비전 세탁실 별도정산 기준 승인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298448" y="295351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분리 산정기준·증빙 양식을 확정해야 분리청구 누락을 0으로 만들 수 있다.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326880" y="2843784"/>
            <a:ext cx="868680" cy="237744"/>
          </a:xfrm>
          <a:prstGeom prst="roundRect">
            <a:avLst>
              <a:gd name="adj" fmla="val 3846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326880" y="284378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2월 내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0314432" y="2606040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 / 코스비전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3429000"/>
            <a:ext cx="11155680" cy="713232"/>
          </a:xfrm>
          <a:prstGeom prst="roundRect">
            <a:avLst>
              <a:gd name="adj" fmla="val 7692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3232" y="3566160"/>
            <a:ext cx="438912" cy="43891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13232" y="3566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298448" y="34838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LOSS 사유코드·귀책룰 원청(AP) 합의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298448" y="377647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LOSS를 사유별로 귀속하는 룰에 원청 합의가 없으면 BY28 협상에서 다시 뒤집힌다.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326880" y="3666744"/>
            <a:ext cx="868680" cy="237744"/>
          </a:xfrm>
          <a:prstGeom prst="roundRect">
            <a:avLst>
              <a:gd name="adj" fmla="val 3846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326880" y="366674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1Q 내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0314432" y="3429000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원청 AP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02920" y="4251960"/>
            <a:ext cx="11155680" cy="713232"/>
          </a:xfrm>
          <a:prstGeom prst="roundRect">
            <a:avLst>
              <a:gd name="adj" fmla="val 7692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3232" y="4389120"/>
            <a:ext cx="438912" cy="43891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13232" y="4389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1298448" y="430682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상시 채용 파이프라인 본사 지원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1298448" y="459943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결원율 3.0% 목표는 채용 리드타임 단축 없이는 달성 불가. 현장 단독 해결 범위를 넘는다.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326880" y="4489704"/>
            <a:ext cx="868680" cy="237744"/>
          </a:xfrm>
          <a:prstGeom prst="roundRect">
            <a:avLst>
              <a:gd name="adj" fmla="val 3846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326880" y="448970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1Q 내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0314432" y="4251960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 HR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02920" y="5074920"/>
            <a:ext cx="11155680" cy="713232"/>
          </a:xfrm>
          <a:prstGeom prst="roundRect">
            <a:avLst>
              <a:gd name="adj" fmla="val 7692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13232" y="5212080"/>
            <a:ext cx="438912" cy="43891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13232" y="5212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1298448" y="5129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불법파견 자체진단 에스컬레이션 라인 확정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1298448" y="542239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고위험 항목 발견 시 본사 HR 보고·조치 경로를 사전에 정해 둔다.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326880" y="5312664"/>
            <a:ext cx="868680" cy="237744"/>
          </a:xfrm>
          <a:prstGeom prst="roundRect">
            <a:avLst>
              <a:gd name="adj" fmla="val 3846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326880" y="531266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2Q 내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10314432" y="5074920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97A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 HR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502920" y="60533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8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5건이 확정되면 엑셀 「01_기준전제」 입력만으로 KPI 목표와 금액 효과가 전 계약 4축으로 확장된다.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172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3716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BY27 운영, 한 문장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87452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600" b="1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전제조건을 지키고,</a:t>
            </a:r>
            <a:endParaRPr lang="en-US" sz="3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3600" b="1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근거를 매월 쌓고,</a:t>
            </a:r>
            <a:endParaRPr lang="en-US" sz="3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3600" b="1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변동성은 사람으로 흡수한다.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914400" y="3977640"/>
            <a:ext cx="10332720" cy="0"/>
          </a:xfrm>
          <a:prstGeom prst="line">
            <a:avLst/>
          </a:prstGeom>
          <a:noFill/>
          <a:ln w="12700">
            <a:solidFill>
              <a:srgbClr val="2540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4251960"/>
            <a:ext cx="3291840" cy="1234440"/>
          </a:xfrm>
          <a:prstGeom prst="roundRect">
            <a:avLst>
              <a:gd name="adj" fmla="val 370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251960"/>
            <a:ext cx="329184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44348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전제조건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475488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중대재해 0 · 불법파견 고위험 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34840" y="4251960"/>
            <a:ext cx="3291840" cy="1234440"/>
          </a:xfrm>
          <a:prstGeom prst="roundRect">
            <a:avLst>
              <a:gd name="adj" fmla="val 370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840" y="4251960"/>
            <a:ext cx="329184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63440" y="44348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축적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475488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LOSS 귀책룰 1월 확정 → 10월 협상 데이터 완성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55280" y="4251960"/>
            <a:ext cx="3291840" cy="1234440"/>
          </a:xfrm>
          <a:prstGeom prst="roundRect">
            <a:avLst>
              <a:gd name="adj" fmla="val 3704"/>
            </a:avLst>
          </a:prstGeom>
          <a:solidFill>
            <a:srgbClr val="152540"/>
          </a:solidFill>
          <a:ln w="12700">
            <a:solidFill>
              <a:srgbClr val="2540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5280" y="4251960"/>
            <a:ext cx="3291840" cy="640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183880" y="44348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변동성 흡수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183880" y="475488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8F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다능공 60% · 결원율 3.0% 이하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8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제니엘 · AP 대전공장 센터   |   BY27 연간 운영계획   |   2027.01 ~ 2027.12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2026-08-29T02:49:47Z</dcterms:created>
  <dcterms:modified xsi:type="dcterms:W3CDTF">2026-08-29T02:49:47Z</dcterms:modified>
</cp:coreProperties>
</file>